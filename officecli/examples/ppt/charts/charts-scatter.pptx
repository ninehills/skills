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slide2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slides/slide3.xml" ContentType="application/vnd.openxmlformats-officedocument.presentationml.slide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slides/charts/chart12.xml" ContentType="application/vnd.openxmlformats-officedocument.drawingml.chart+xml"/>
  <Override PartName="/ppt/slides/slide4.xml" ContentType="application/vnd.openxmlformats-officedocument.presentationml.slide+xml"/>
  <Override PartName="/ppt/slides/charts/chart13.xml" ContentType="application/vnd.openxmlformats-officedocument.drawingml.chart+xml"/>
  <Override PartName="/ppt/slides/charts/chart14.xml" ContentType="application/vnd.openxmlformats-officedocument.drawingml.chart+xml"/>
  <Override PartName="/ppt/slides/charts/chart15.xml" ContentType="application/vnd.openxmlformats-officedocument.drawingml.chart+xml"/>
  <Override PartName="/ppt/slides/charts/chart16.xml" ContentType="application/vnd.openxmlformats-officedocument.drawingml.chart+xml"/>
  <Override PartName="/ppt/slides/slide5.xml" ContentType="application/vnd.openxmlformats-officedocument.presentationml.slide+xml"/>
  <Override PartName="/ppt/slides/charts/chart17.xml" ContentType="application/vnd.openxmlformats-officedocument.drawingml.chart+xml"/>
  <Override PartName="/ppt/slides/charts/chart18.xml" ContentType="application/vnd.openxmlformats-officedocument.drawingml.chart+xml"/>
  <Override PartName="/ppt/slides/charts/chart19.xml" ContentType="application/vnd.openxmlformats-officedocument.drawingml.chart+xml"/>
  <Override PartName="/ppt/slides/charts/chart20.xml" ContentType="application/vnd.openxmlformats-officedocument.drawingml.chart+xml"/>
  <Override PartName="/ppt/slides/slide6.xml" ContentType="application/vnd.openxmlformats-officedocument.presentationml.slide+xml"/>
  <Override PartName="/ppt/slides/charts/chart21.xml" ContentType="application/vnd.openxmlformats-officedocument.drawingml.chart+xml"/>
  <Override PartName="/ppt/slides/charts/chart22.xml" ContentType="application/vnd.openxmlformats-officedocument.drawingml.chart+xml"/>
  <Override PartName="/ppt/slides/charts/chart23.xml" ContentType="application/vnd.openxmlformats-officedocument.drawingml.chart+xml"/>
  <Override PartName="/ppt/slides/charts/chart24.xml" ContentType="application/vnd.openxmlformats-officedocument.drawingml.chart+xml"/>
  <Override PartName="/ppt/slides/slide7.xml" ContentType="application/vnd.openxmlformats-officedocument.presentationml.slide+xml"/>
  <Override PartName="/ppt/slides/charts/chart25.xml" ContentType="application/vnd.openxmlformats-officedocument.drawingml.chart+xml"/>
  <Override PartName="/ppt/slides/charts/chart26.xml" ContentType="application/vnd.openxmlformats-officedocument.drawingml.chart+xml"/>
  <Override PartName="/ppt/slides/charts/chart27.xml" ContentType="application/vnd.openxmlformats-officedocument.drawingml.chart+xml"/>
  <Override PartName="/ppt/slides/charts/chart28.xml" ContentType="application/vnd.openxmlformats-officedocument.drawingml.chart+xml"/>
  <Override PartName="/ppt/slides/slide8.xml" ContentType="application/vnd.openxmlformats-officedocument.presentationml.slide+xml"/>
  <Override PartName="/ppt/slides/charts/chart29.xml" ContentType="application/vnd.openxmlformats-officedocument.drawingml.chart+xml"/>
  <Override PartName="/ppt/slides/charts/chart30.xml" ContentType="application/vnd.openxmlformats-officedocument.drawingml.chart+xml"/>
  <Override PartName="/ppt/slides/charts/chart31.xml" ContentType="application/vnd.openxmlformats-officedocument.drawingml.chart+xml"/>
  <Override PartName="/ppt/slides/charts/chart32.xml" ContentType="application/vnd.openxmlformats-officedocument.drawingml.chart+xml"/>
  <Override PartName="/ppt/slides/slide9.xml" ContentType="application/vnd.openxmlformats-officedocument.presentationml.slide+xml"/>
  <Override PartName="/ppt/slides/charts/chart33.xml" ContentType="application/vnd.openxmlformats-officedocument.drawingml.chart+xml"/>
  <Override PartName="/ppt/slides/charts/chart34.xml" ContentType="application/vnd.openxmlformats-officedocument.drawingml.chart+xml"/>
  <Override PartName="/ppt/slides/charts/chart35.xml" ContentType="application/vnd.openxmlformats-officedocument.drawingml.chart+xml"/>
  <Override PartName="/ppt/slides/charts/chart36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a3e10904385415e" /><Relationship Type="http://schemas.openxmlformats.org/package/2006/relationships/metadata/core-properties" Target="/docProps/core.xml" Id="R9ed5731c1d4d48f5" /><Relationship Type="http://schemas.openxmlformats.org/officeDocument/2006/relationships/extended-properties" Target="/docProps/app.xml" Id="R03edd33f31cf4c6f" /><Relationship Type="http://schemas.openxmlformats.org/officeDocument/2006/relationships/custom-properties" Target="/docProps/custom.xml" Id="R8e7400b054524d45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6036c67fd47d4403"/>
    <p:sldId id="257" r:id="R1e40e26c0d8e4466"/>
    <p:sldId id="258" r:id="R62ec1a52dc6c427b"/>
    <p:sldId id="259" r:id="R4bb12ce18417407d"/>
    <p:sldId id="260" r:id="R4b90807ef4e14a81"/>
    <p:sldId id="261" r:id="R0f3c9b4537a6474e"/>
    <p:sldId id="262" r:id="Rf9fab46d1e784085"/>
    <p:sldId id="263" r:id="R7a70ea1a258c468d"/>
    <p:sldId id="264" r:id="R5faf14e6877b4c6e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6036c67fd47d4403" /><Relationship Type="http://schemas.openxmlformats.org/officeDocument/2006/relationships/slide" Target="/ppt/slides/slide2.xml" Id="R1e40e26c0d8e4466" /><Relationship Type="http://schemas.openxmlformats.org/officeDocument/2006/relationships/slide" Target="/ppt/slides/slide3.xml" Id="R62ec1a52dc6c427b" /><Relationship Type="http://schemas.openxmlformats.org/officeDocument/2006/relationships/slide" Target="/ppt/slides/slide4.xml" Id="R4bb12ce18417407d" /><Relationship Type="http://schemas.openxmlformats.org/officeDocument/2006/relationships/slide" Target="/ppt/slides/slide5.xml" Id="R4b90807ef4e14a81" /><Relationship Type="http://schemas.openxmlformats.org/officeDocument/2006/relationships/slide" Target="/ppt/slides/slide6.xml" Id="R0f3c9b4537a6474e" /><Relationship Type="http://schemas.openxmlformats.org/officeDocument/2006/relationships/slide" Target="/ppt/slides/slide7.xml" Id="Rf9fab46d1e784085" /><Relationship Type="http://schemas.openxmlformats.org/officeDocument/2006/relationships/slide" Target="/ppt/slides/slide8.xml" Id="R7a70ea1a258c468d" /><Relationship Type="http://schemas.openxmlformats.org/officeDocument/2006/relationships/slide" Target="/ppt/slides/slide9.xml" Id="R5faf14e6877b4c6e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1e9597e3224bb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7a5bb0924c424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71efe337a644d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98b2cc19364fd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52162e177d4997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b09fd683cf6e4bb4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57eed11eb4c2a" /><Relationship Type="http://schemas.openxmlformats.org/officeDocument/2006/relationships/chart" Target="/ppt/slides/charts/chart1.xml" Id="Re2185443a8714f21" /><Relationship Type="http://schemas.openxmlformats.org/officeDocument/2006/relationships/chart" Target="/ppt/slides/charts/chart2.xml" Id="Reb3b997aa6044c04" /><Relationship Type="http://schemas.openxmlformats.org/officeDocument/2006/relationships/chart" Target="/ppt/slides/charts/chart3.xml" Id="Rf5a7fe58b9714514" /><Relationship Type="http://schemas.openxmlformats.org/officeDocument/2006/relationships/chart" Target="/ppt/slides/charts/chart4.xml" Id="R14d4a0b5f2434d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01fcff510408f" /><Relationship Type="http://schemas.openxmlformats.org/officeDocument/2006/relationships/chart" Target="/ppt/slides/charts/chart5.xml" Id="R27ca520ae9cf4e52" /><Relationship Type="http://schemas.openxmlformats.org/officeDocument/2006/relationships/chart" Target="/ppt/slides/charts/chart6.xml" Id="R8f8319c2bdb14dd2" /><Relationship Type="http://schemas.openxmlformats.org/officeDocument/2006/relationships/chart" Target="/ppt/slides/charts/chart7.xml" Id="R38b093b8c3124b1a" /><Relationship Type="http://schemas.openxmlformats.org/officeDocument/2006/relationships/chart" Target="/ppt/slides/charts/chart8.xml" Id="R98cdc63ea1cc46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2643fc4ac4874" /><Relationship Type="http://schemas.openxmlformats.org/officeDocument/2006/relationships/chart" Target="/ppt/slides/charts/chart9.xml" Id="Rc740088ee00444d0" /><Relationship Type="http://schemas.openxmlformats.org/officeDocument/2006/relationships/chart" Target="/ppt/slides/charts/chart10.xml" Id="R658e29cd4f6a400a" /><Relationship Type="http://schemas.openxmlformats.org/officeDocument/2006/relationships/chart" Target="/ppt/slides/charts/chart11.xml" Id="R0c0e6050bbe148d3" /><Relationship Type="http://schemas.openxmlformats.org/officeDocument/2006/relationships/chart" Target="/ppt/slides/charts/chart12.xml" Id="Rdfe0cce18bc948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ffc05b081040d8" /><Relationship Type="http://schemas.openxmlformats.org/officeDocument/2006/relationships/chart" Target="/ppt/slides/charts/chart13.xml" Id="R78175b0696f64ba2" /><Relationship Type="http://schemas.openxmlformats.org/officeDocument/2006/relationships/chart" Target="/ppt/slides/charts/chart14.xml" Id="R70b9072c16c147fd" /><Relationship Type="http://schemas.openxmlformats.org/officeDocument/2006/relationships/chart" Target="/ppt/slides/charts/chart15.xml" Id="R65b58170c3fe41a7" /><Relationship Type="http://schemas.openxmlformats.org/officeDocument/2006/relationships/chart" Target="/ppt/slides/charts/chart16.xml" Id="Ra21f6b1873194e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8ae6973214803" /><Relationship Type="http://schemas.openxmlformats.org/officeDocument/2006/relationships/chart" Target="/ppt/slides/charts/chart17.xml" Id="R93951c6875584bdc" /><Relationship Type="http://schemas.openxmlformats.org/officeDocument/2006/relationships/chart" Target="/ppt/slides/charts/chart18.xml" Id="R2a2a68740ec94189" /><Relationship Type="http://schemas.openxmlformats.org/officeDocument/2006/relationships/chart" Target="/ppt/slides/charts/chart19.xml" Id="R6e09463b65ce4c71" /><Relationship Type="http://schemas.openxmlformats.org/officeDocument/2006/relationships/chart" Target="/ppt/slides/charts/chart20.xml" Id="R0ae1ae7a509340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b67233dc443f3" /><Relationship Type="http://schemas.openxmlformats.org/officeDocument/2006/relationships/chart" Target="/ppt/slides/charts/chart21.xml" Id="R40737791a5974df4" /><Relationship Type="http://schemas.openxmlformats.org/officeDocument/2006/relationships/chart" Target="/ppt/slides/charts/chart22.xml" Id="R6f33b7d5bdc14b06" /><Relationship Type="http://schemas.openxmlformats.org/officeDocument/2006/relationships/chart" Target="/ppt/slides/charts/chart23.xml" Id="Rbb4bc3dde4f5444a" /><Relationship Type="http://schemas.openxmlformats.org/officeDocument/2006/relationships/chart" Target="/ppt/slides/charts/chart24.xml" Id="R33010ae86c594e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fb36d1ede4a2c" /><Relationship Type="http://schemas.openxmlformats.org/officeDocument/2006/relationships/chart" Target="/ppt/slides/charts/chart25.xml" Id="R9c2eb818594540e7" /><Relationship Type="http://schemas.openxmlformats.org/officeDocument/2006/relationships/chart" Target="/ppt/slides/charts/chart26.xml" Id="Rfe6cbee2d0b5449e" /><Relationship Type="http://schemas.openxmlformats.org/officeDocument/2006/relationships/chart" Target="/ppt/slides/charts/chart27.xml" Id="R28f271cb807c4af1" /><Relationship Type="http://schemas.openxmlformats.org/officeDocument/2006/relationships/chart" Target="/ppt/slides/charts/chart28.xml" Id="R91f00498b9e646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6f4ec6bc534673" /><Relationship Type="http://schemas.openxmlformats.org/officeDocument/2006/relationships/chart" Target="/ppt/slides/charts/chart29.xml" Id="R48fe6df9b5434b4e" /><Relationship Type="http://schemas.openxmlformats.org/officeDocument/2006/relationships/chart" Target="/ppt/slides/charts/chart30.xml" Id="Rb144f8f28b564b25" /><Relationship Type="http://schemas.openxmlformats.org/officeDocument/2006/relationships/chart" Target="/ppt/slides/charts/chart31.xml" Id="R9ced0b90c9324236" /><Relationship Type="http://schemas.openxmlformats.org/officeDocument/2006/relationships/chart" Target="/ppt/slides/charts/chart32.xml" Id="Rcc9a43065e7f40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7381b61464ac1" /><Relationship Type="http://schemas.openxmlformats.org/officeDocument/2006/relationships/chart" Target="/ppt/slides/charts/chart33.xml" Id="R76f7dc9f04d34e98" /><Relationship Type="http://schemas.openxmlformats.org/officeDocument/2006/relationships/chart" Target="/ppt/slides/charts/chart34.xml" Id="R6376d11d9d994e74" /><Relationship Type="http://schemas.openxmlformats.org/officeDocument/2006/relationships/chart" Target="/ppt/slides/charts/chart35.xml" Id="R4f52b29344c04363" /><Relationship Type="http://schemas.openxmlformats.org/officeDocument/2006/relationships/chart" Target="/ppt/slides/charts/chart36.xml" Id="R998cb00d01464188" /></Relationships>
</file>

<file path=ppt/slides/charts/chart1.xml><?xml version="1.0" encoding="utf-8"?>
<c:chartSpace xmlns:c="http://schemas.openxmlformats.org/drawingml/2006/chart"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scatterstyle=line</a:t>
            </a:r>
          </a:p>
        </c:rich>
      </c:tx>
      <c:overlay val="0"/>
    </c:title>
    <c:plotArea>
      <c:layout/>
      <c:scatterChart>
        <c:scatterStyle val="line"/>
        <c:varyColors val="0"/>
        <c:ser>
          <c:idx val="0"/>
          <c:order val="0"/>
          <c:tx>
            <c:v>A</c:v>
          </c:tx>
          <c:xVal>
            <c:numLit>
              <c:ptCount val="1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</c:numLit>
          </c:xVal>
          <c:yVal>
            <c:numLit>
              <c:ptCount val="10"/>
              <c:pt idx="0">
                <c:v>10</c:v>
              </c:pt>
              <c:pt idx="1">
                <c:v>20</c:v>
              </c:pt>
              <c:pt idx="2">
                <c:v>18</c:v>
              </c:pt>
              <c:pt idx="3">
                <c:v>30</c:v>
              </c:pt>
              <c:pt idx="4">
                <c:v>28</c:v>
              </c:pt>
              <c:pt idx="5">
                <c:v>40</c:v>
              </c:pt>
              <c:pt idx="6">
                <c:v>42</c:v>
              </c:pt>
              <c:pt idx="7">
                <c:v>55</c:v>
              </c:pt>
              <c:pt idx="8">
                <c:v>52</c:v>
              </c:pt>
              <c:pt idx="9">
                <c:v>65</c:v>
              </c:pt>
            </c:numLit>
          </c:yVal>
        </c:ser>
        <c:axId val="1"/>
        <c:axId val="2"/>
      </c:scatterChart>
      <c:valAx>
        <c:axId val="1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2"/>
        <c:crosses val="autoZero"/>
        <c:crossBetween val="between"/>
      </c:val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plotVisOnly val="1"/>
    <c:dispBlanksAs val="gap"/>
  </c:chart>
</c:chartSpace>
</file>

<file path=ppt/slides/charts/chart2.xml><?xml version="1.0" encoding="utf-8"?>
<c:chartSpace xmlns:c="http://schemas.openxmlformats.org/drawingml/2006/chart"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scatterstyle=lineMarker</a:t>
            </a:r>
          </a:p>
        </c:rich>
      </c:tx>
      <c:overlay val="0"/>
    </c:title>
    <c:plotArea>
      <c:layout/>
      <c:scatterChart>
        <c:scatterStyle val="lineMarker"/>
        <c:varyColors val="0"/>
        <c:ser>
          <c:idx val="0"/>
          <c:order val="0"/>
          <c:tx>
            <c:v>A</c:v>
          </c:tx>
          <c:xVal>
            <c:numLit>
              <c:ptCount val="1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</c:numLit>
          </c:xVal>
          <c:yVal>
            <c:numLit>
              <c:ptCount val="10"/>
              <c:pt idx="0">
                <c:v>10</c:v>
              </c:pt>
              <c:pt idx="1">
                <c:v>20</c:v>
              </c:pt>
              <c:pt idx="2">
                <c:v>18</c:v>
              </c:pt>
              <c:pt idx="3">
                <c:v>30</c:v>
              </c:pt>
              <c:pt idx="4">
                <c:v>28</c:v>
              </c:pt>
              <c:pt idx="5">
                <c:v>40</c:v>
              </c:pt>
              <c:pt idx="6">
                <c:v>42</c:v>
              </c:pt>
              <c:pt idx="7">
                <c:v>55</c:v>
              </c:pt>
              <c:pt idx="8">
                <c:v>52</c:v>
              </c:pt>
              <c:pt idx="9">
                <c:v>65</c:v>
              </c:pt>
            </c:numLit>
          </c:yVal>
        </c:ser>
        <c:axId val="1"/>
        <c:axId val="2"/>
      </c:scatterChart>
      <c:valAx>
        <c:axId val="1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2"/>
        <c:crosses val="autoZero"/>
        <c:crossBetween val="between"/>
      </c:val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plotVisOnly val="1"/>
    <c:dispBlanksAs val="gap"/>
  </c:chart>
</c:chartSpace>
</file>

<file path=ppt/slides/charts/chart3.xml><?xml version="1.0" encoding="utf-8"?>
<c:chartSpace xmlns:c="http://schemas.openxmlformats.org/drawingml/2006/chart"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scatterstyle=marker</a:t>
            </a:r>
          </a:p>
        </c:rich>
      </c:tx>
      <c:overlay val="0"/>
    </c:title>
    <c:plotArea>
      <c:layout/>
      <c:scatterChart>
        <c:scatterStyle val="marker"/>
        <c:varyColors val="0"/>
        <c:ser>
          <c:idx val="0"/>
          <c:order val="0"/>
          <c:tx>
            <c:v>A</c:v>
          </c:tx>
          <c:spPr>
            <a:ln xmlns:a="http://schemas.openxmlformats.org/drawingml/2006/main">
              <a:noFill/>
            </a:ln>
          </c:spPr>
          <c:xVal>
            <c:numLit>
              <c:ptCount val="1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</c:numLit>
          </c:xVal>
          <c:yVal>
            <c:numLit>
              <c:ptCount val="10"/>
              <c:pt idx="0">
                <c:v>10</c:v>
              </c:pt>
              <c:pt idx="1">
                <c:v>20</c:v>
              </c:pt>
              <c:pt idx="2">
                <c:v>18</c:v>
              </c:pt>
              <c:pt idx="3">
                <c:v>30</c:v>
              </c:pt>
              <c:pt idx="4">
                <c:v>28</c:v>
              </c:pt>
              <c:pt idx="5">
                <c:v>40</c:v>
              </c:pt>
              <c:pt idx="6">
                <c:v>42</c:v>
              </c:pt>
              <c:pt idx="7">
                <c:v>55</c:v>
              </c:pt>
              <c:pt idx="8">
                <c:v>52</c:v>
              </c:pt>
              <c:pt idx="9">
                <c:v>65</c:v>
              </c:pt>
            </c:numLit>
          </c:yVal>
        </c:ser>
        <c:axId val="1"/>
        <c:axId val="2"/>
      </c:scatterChart>
      <c:valAx>
        <c:axId val="1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2"/>
        <c:crosses val="autoZero"/>
        <c:crossBetween val="between"/>
      </c:val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plotVisOnly val="1"/>
    <c:dispBlanksAs val="gap"/>
  </c:chart>
</c:chartSpace>
</file>

<file path=ppt/slides/charts/chart4.xml><?xml version="1.0" encoding="utf-8"?>
<c:chartSpace xmlns:c="http://schemas.openxmlformats.org/drawingml/2006/chart"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scatterstyle=smoothMarker</a:t>
            </a:r>
          </a:p>
        </c:rich>
      </c:tx>
      <c:overlay val="0"/>
    </c:title>
    <c:plotArea>
      <c:layout/>
      <c:scatterChart>
        <c:scatterStyle val="smoothMarker"/>
        <c:varyColors val="0"/>
        <c:ser>
          <c:idx val="0"/>
          <c:order val="0"/>
          <c:tx>
            <c:v>A</c:v>
          </c:tx>
          <c:xVal>
            <c:numLit>
              <c:ptCount val="1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</c:numLit>
          </c:xVal>
          <c:yVal>
            <c:numLit>
              <c:ptCount val="10"/>
              <c:pt idx="0">
                <c:v>10</c:v>
              </c:pt>
              <c:pt idx="1">
                <c:v>20</c:v>
              </c:pt>
              <c:pt idx="2">
                <c:v>18</c:v>
              </c:pt>
              <c:pt idx="3">
                <c:v>30</c:v>
              </c:pt>
              <c:pt idx="4">
                <c:v>28</c:v>
              </c:pt>
              <c:pt idx="5">
                <c:v>40</c:v>
              </c:pt>
              <c:pt idx="6">
                <c:v>42</c:v>
              </c:pt>
              <c:pt idx="7">
                <c:v>55</c:v>
              </c:pt>
              <c:pt idx="8">
                <c:v>52</c:v>
              </c:pt>
              <c:pt idx="9">
                <c:v>65</c:v>
              </c:pt>
            </c:numLit>
          </c:yVal>
        </c:ser>
        <c:axId val="1"/>
        <c:axId val="2"/>
      </c:scatterChart>
      <c:valAx>
        <c:axId val="1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2"/>
        <c:crosses val="autoZero"/>
        <c:crossBetween val="between"/>
      </c:val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plotVisOnly val="1"/>
    <c:dispBlanksAs val="gap"/>
  </c:chart>
</c:chartSpace>
</file>

<file path=ppt/slides/charts/chart5.xml><?xml version="1.0" encoding="utf-8"?>
<c:chartSpace xmlns:c="http://schemas.openxmlformats.org/drawingml/2006/chart"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circle:10:FF0000</a:t>
            </a:r>
          </a:p>
        </c:rich>
      </c:tx>
      <c:overlay val="0"/>
    </c:title>
    <c:plotArea>
      <c:layout/>
      <c:scatterChart>
        <c:scatterStyle val="marker"/>
        <c:varyColors val="0"/>
        <c:ser>
          <c:idx val="0"/>
          <c:order val="0"/>
          <c:tx>
            <c:v>A</c:v>
          </c:tx>
          <c:spPr>
            <a:ln xmlns:a="http://schemas.openxmlformats.org/drawingml/2006/main">
              <a:noFill/>
            </a:ln>
          </c:spPr>
          <c:marker>
            <c:symbol val="circle"/>
            <c:size val="10"/>
            <c:spPr>
              <a:solidFill xmlns:a="http://schemas.openxmlformats.org/drawingml/2006/main">
                <a:srgbClr val="FF0000"/>
              </a:solidFill>
            </c:spPr>
          </c:marker>
          <c:xVal>
            <c:numLit>
              <c:ptCount val="1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</c:numLit>
          </c:xVal>
          <c:yVal>
            <c:numLit>
              <c:ptCount val="10"/>
              <c:pt idx="0">
                <c:v>10</c:v>
              </c:pt>
              <c:pt idx="1">
                <c:v>20</c:v>
              </c:pt>
              <c:pt idx="2">
                <c:v>18</c:v>
              </c:pt>
              <c:pt idx="3">
                <c:v>30</c:v>
              </c:pt>
              <c:pt idx="4">
                <c:v>28</c:v>
              </c:pt>
              <c:pt idx="5">
                <c:v>40</c:v>
              </c:pt>
              <c:pt idx="6">
                <c:v>42</c:v>
              </c:pt>
              <c:pt idx="7">
                <c:v>55</c:v>
              </c:pt>
              <c:pt idx="8">
                <c:v>52</c:v>
              </c:pt>
              <c:pt idx="9">
                <c:v>65</c:v>
              </c:pt>
            </c:numLit>
          </c:yVal>
        </c:ser>
        <c:axId val="1"/>
        <c:axId val="2"/>
      </c:scatterChart>
      <c:valAx>
        <c:axId val="1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2"/>
        <c:crosses val="autoZero"/>
        <c:crossBetween val="between"/>
      </c:val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plotVisOnly val="1"/>
    <c:dispBlanksAs val="gap"/>
  </c:chart>
</c:chartSpace>
</file>

<file path=ppt/slides/charts/chart6.xml><?xml version="1.0" encoding="utf-8"?>
<c:chartSpace xmlns:c="http://schemas.openxmlformats.org/drawingml/2006/chart"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diamond:12:0070C0</a:t>
            </a:r>
          </a:p>
        </c:rich>
      </c:tx>
      <c:overlay val="0"/>
    </c:title>
    <c:plotArea>
      <c:layout/>
      <c:scatterChart>
        <c:scatterStyle val="marker"/>
        <c:varyColors val="0"/>
        <c:ser>
          <c:idx val="0"/>
          <c:order val="0"/>
          <c:tx>
            <c:v>A</c:v>
          </c:tx>
          <c:spPr>
            <a:ln xmlns:a="http://schemas.openxmlformats.org/drawingml/2006/main">
              <a:noFill/>
            </a:ln>
          </c:spPr>
          <c:marker>
            <c:symbol val="diamond"/>
            <c:size val="12"/>
            <c:spPr>
              <a:solidFill xmlns:a="http://schemas.openxmlformats.org/drawingml/2006/main">
                <a:srgbClr val="0070C0"/>
              </a:solidFill>
            </c:spPr>
          </c:marker>
          <c:xVal>
            <c:numLit>
              <c:ptCount val="1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</c:numLit>
          </c:xVal>
          <c:yVal>
            <c:numLit>
              <c:ptCount val="10"/>
              <c:pt idx="0">
                <c:v>10</c:v>
              </c:pt>
              <c:pt idx="1">
                <c:v>20</c:v>
              </c:pt>
              <c:pt idx="2">
                <c:v>18</c:v>
              </c:pt>
              <c:pt idx="3">
                <c:v>30</c:v>
              </c:pt>
              <c:pt idx="4">
                <c:v>28</c:v>
              </c:pt>
              <c:pt idx="5">
                <c:v>40</c:v>
              </c:pt>
              <c:pt idx="6">
                <c:v>42</c:v>
              </c:pt>
              <c:pt idx="7">
                <c:v>55</c:v>
              </c:pt>
              <c:pt idx="8">
                <c:v>52</c:v>
              </c:pt>
              <c:pt idx="9">
                <c:v>65</c:v>
              </c:pt>
            </c:numLit>
          </c:yVal>
        </c:ser>
        <c:axId val="1"/>
        <c:axId val="2"/>
      </c:scatterChart>
      <c:valAx>
        <c:axId val="1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2"/>
        <c:crosses val="autoZero"/>
        <c:crossBetween val="between"/>
      </c:val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plotVisOnly val="1"/>
    <c:dispBlanksAs val="gap"/>
  </c:chart>
</c:chartSpace>
</file>

<file path=ppt/slides/charts/chart7.xml><?xml version="1.0" encoding="utf-8"?>
<c:chartSpace xmlns:c="http://schemas.openxmlformats.org/drawingml/2006/chart"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square:8:70AD47</a:t>
            </a:r>
          </a:p>
        </c:rich>
      </c:tx>
      <c:overlay val="0"/>
    </c:title>
    <c:plotArea>
      <c:layout/>
      <c:scatterChart>
        <c:scatterStyle val="marker"/>
        <c:varyColors val="0"/>
        <c:ser>
          <c:idx val="0"/>
          <c:order val="0"/>
          <c:tx>
            <c:v>A</c:v>
          </c:tx>
          <c:spPr>
            <a:ln xmlns:a="http://schemas.openxmlformats.org/drawingml/2006/main">
              <a:noFill/>
            </a:ln>
          </c:spPr>
          <c:marker>
            <c:symbol val="square"/>
            <c:size val="8"/>
            <c:spPr>
              <a:solidFill xmlns:a="http://schemas.openxmlformats.org/drawingml/2006/main">
                <a:srgbClr val="70AD47"/>
              </a:solidFill>
            </c:spPr>
          </c:marker>
          <c:xVal>
            <c:numLit>
              <c:ptCount val="1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</c:numLit>
          </c:xVal>
          <c:yVal>
            <c:numLit>
              <c:ptCount val="10"/>
              <c:pt idx="0">
                <c:v>10</c:v>
              </c:pt>
              <c:pt idx="1">
                <c:v>20</c:v>
              </c:pt>
              <c:pt idx="2">
                <c:v>18</c:v>
              </c:pt>
              <c:pt idx="3">
                <c:v>30</c:v>
              </c:pt>
              <c:pt idx="4">
                <c:v>28</c:v>
              </c:pt>
              <c:pt idx="5">
                <c:v>40</c:v>
              </c:pt>
              <c:pt idx="6">
                <c:v>42</c:v>
              </c:pt>
              <c:pt idx="7">
                <c:v>55</c:v>
              </c:pt>
              <c:pt idx="8">
                <c:v>52</c:v>
              </c:pt>
              <c:pt idx="9">
                <c:v>65</c:v>
              </c:pt>
            </c:numLit>
          </c:yVal>
        </c:ser>
        <c:axId val="1"/>
        <c:axId val="2"/>
      </c:scatterChart>
      <c:valAx>
        <c:axId val="1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2"/>
        <c:crosses val="autoZero"/>
        <c:crossBetween val="between"/>
      </c:val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plotVisOnly val="1"/>
    <c:dispBlanksAs val="gap"/>
  </c:chart>
</c:chartSpace>
</file>

<file path=ppt/slides/charts/chart8.xml><?xml version="1.0" encoding="utf-8"?>
<c:chartSpace xmlns:c="http://schemas.openxmlformats.org/drawingml/2006/chart"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markercolor=E63946</a:t>
            </a:r>
          </a:p>
        </c:rich>
      </c:tx>
      <c:overlay val="0"/>
    </c:title>
    <c:plotArea>
      <c:layout/>
      <c:scatterChart>
        <c:scatterStyle val="marker"/>
        <c:varyColors val="0"/>
        <c:ser>
          <c:idx val="0"/>
          <c:order val="0"/>
          <c:tx>
            <c:v>A</c:v>
          </c:tx>
          <c:spPr>
            <a:ln xmlns:a="http://schemas.openxmlformats.org/drawingml/2006/main">
              <a:noFill/>
            </a:ln>
          </c:spPr>
          <c:marker>
            <c:symbol val="circle"/>
            <c:size val="10"/>
            <c:spPr>
              <a:solidFill xmlns:a="http://schemas.openxmlformats.org/drawingml/2006/main">
                <a:srgbClr val="E63946"/>
              </a:solidFill>
            </c:spPr>
          </c:marker>
          <c:xVal>
            <c:numLit>
              <c:ptCount val="1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</c:numLit>
          </c:xVal>
          <c:yVal>
            <c:numLit>
              <c:ptCount val="10"/>
              <c:pt idx="0">
                <c:v>10</c:v>
              </c:pt>
              <c:pt idx="1">
                <c:v>20</c:v>
              </c:pt>
              <c:pt idx="2">
                <c:v>18</c:v>
              </c:pt>
              <c:pt idx="3">
                <c:v>30</c:v>
              </c:pt>
              <c:pt idx="4">
                <c:v>28</c:v>
              </c:pt>
              <c:pt idx="5">
                <c:v>40</c:v>
              </c:pt>
              <c:pt idx="6">
                <c:v>42</c:v>
              </c:pt>
              <c:pt idx="7">
                <c:v>55</c:v>
              </c:pt>
              <c:pt idx="8">
                <c:v>52</c:v>
              </c:pt>
              <c:pt idx="9">
                <c:v>65</c:v>
              </c:pt>
            </c:numLit>
          </c:yVal>
        </c:ser>
        <c:axId val="1"/>
        <c:axId val="2"/>
      </c:scatterChart>
      <c:valAx>
        <c:axId val="1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2"/>
        <c:crosses val="autoZero"/>
        <c:crossBetween val="between"/>
      </c:val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plotVisOnly val="1"/>
    <c:dispBlanksAs val="gap"/>
  </c:chart>
</c:chartSpace>
</file>

<file path=ppt/slides/charts/chart9.xml><?xml version="1.0" encoding="utf-8"?>
<c:chartSpace xmlns:c="http://schemas.openxmlformats.org/drawingml/2006/chart"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/>
            </a:pPr>
            <a:r>
              <a:rPr lang="en-US" sz="2000" b="1">
                <a:solidFill>
                  <a:srgbClr val="4472C4"/>
                </a:solidFill>
                <a:latin typeface="Georgia"/>
                <a:ea typeface="Georgia"/>
              </a:rPr>
              <a:t>Styled title</a:t>
            </a:r>
          </a:p>
        </c:rich>
      </c:tx>
      <c:overlay val="0"/>
    </c:title>
    <c:plotArea>
      <c:layout/>
      <c:scatterChart>
        <c:scatterStyle val="smoothMarker"/>
        <c:varyColors val="0"/>
        <c:ser>
          <c:idx val="0"/>
          <c:order val="0"/>
          <c:tx>
            <c:v>A</c:v>
          </c:tx>
          <c:xVal>
            <c:numLit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xVal>
          <c:yVal>
            <c:numLit>
              <c:ptCount val="8"/>
              <c:pt idx="0">
                <c:v>10</c:v>
              </c:pt>
              <c:pt idx="1">
                <c:v>20</c:v>
              </c:pt>
              <c:pt idx="2">
                <c:v>18</c:v>
              </c:pt>
              <c:pt idx="3">
                <c:v>30</c:v>
              </c:pt>
              <c:pt idx="4">
                <c:v>28</c:v>
              </c:pt>
              <c:pt idx="5">
                <c:v>40</c:v>
              </c:pt>
              <c:pt idx="6">
                <c:v>42</c:v>
              </c:pt>
              <c:pt idx="7">
                <c:v>55</c:v>
              </c:pt>
            </c:numLit>
          </c:yVal>
        </c:ser>
        <c:ser>
          <c:idx val="1"/>
          <c:order val="1"/>
          <c:tx>
            <c:v>B</c:v>
          </c:tx>
          <c:xVal>
            <c:numLit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xVal>
          <c:yVal>
            <c:numLit>
              <c:ptCount val="8"/>
              <c:pt idx="0">
                <c:v>5</c:v>
              </c:pt>
              <c:pt idx="1">
                <c:v>12</c:v>
              </c:pt>
              <c:pt idx="2">
                <c:v>15</c:v>
              </c:pt>
              <c:pt idx="3">
                <c:v>22</c:v>
              </c:pt>
              <c:pt idx="4">
                <c:v>25</c:v>
              </c:pt>
              <c:pt idx="5">
                <c:v>30</c:v>
              </c:pt>
              <c:pt idx="6">
                <c:v>35</c:v>
              </c:pt>
              <c:pt idx="7">
                <c:v>40</c:v>
              </c:pt>
            </c:numLit>
          </c:yVal>
        </c:ser>
        <c:axId val="1"/>
        <c:axId val="2"/>
      </c:scatterChart>
      <c:valAx>
        <c:axId val="1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2"/>
        <c:crosses val="autoZero"/>
        <c:crossBetween val="between"/>
      </c:val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charts/chart10.xml><?xml version="1.0" encoding="utf-8"?>
<c:chartSpace xmlns:c="http://schemas.openxmlformats.org/drawingml/2006/chart"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legend=top + legendFont</a:t>
            </a:r>
          </a:p>
        </c:rich>
      </c:tx>
      <c:overlay val="0"/>
    </c:title>
    <c:plotArea>
      <c:layout/>
      <c:scatterChart>
        <c:scatterStyle val="lineMarker"/>
        <c:varyColors val="0"/>
        <c:ser>
          <c:idx val="0"/>
          <c:order val="0"/>
          <c:tx>
            <c:v>A</c:v>
          </c:tx>
          <c:xVal>
            <c:numLit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xVal>
          <c:yVal>
            <c:numLit>
              <c:ptCount val="8"/>
              <c:pt idx="0">
                <c:v>10</c:v>
              </c:pt>
              <c:pt idx="1">
                <c:v>20</c:v>
              </c:pt>
              <c:pt idx="2">
                <c:v>18</c:v>
              </c:pt>
              <c:pt idx="3">
                <c:v>30</c:v>
              </c:pt>
              <c:pt idx="4">
                <c:v>28</c:v>
              </c:pt>
              <c:pt idx="5">
                <c:v>40</c:v>
              </c:pt>
              <c:pt idx="6">
                <c:v>42</c:v>
              </c:pt>
              <c:pt idx="7">
                <c:v>55</c:v>
              </c:pt>
            </c:numLit>
          </c:yVal>
        </c:ser>
        <c:ser>
          <c:idx val="1"/>
          <c:order val="1"/>
          <c:tx>
            <c:v>B</c:v>
          </c:tx>
          <c:xVal>
            <c:numLit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xVal>
          <c:yVal>
            <c:numLit>
              <c:ptCount val="8"/>
              <c:pt idx="0">
                <c:v>5</c:v>
              </c:pt>
              <c:pt idx="1">
                <c:v>12</c:v>
              </c:pt>
              <c:pt idx="2">
                <c:v>15</c:v>
              </c:pt>
              <c:pt idx="3">
                <c:v>22</c:v>
              </c:pt>
              <c:pt idx="4">
                <c:v>25</c:v>
              </c:pt>
              <c:pt idx="5">
                <c:v>30</c:v>
              </c:pt>
              <c:pt idx="6">
                <c:v>35</c:v>
              </c:pt>
              <c:pt idx="7">
                <c:v>40</c:v>
              </c:pt>
            </c:numLit>
          </c:yVal>
        </c:ser>
        <c:axId val="1"/>
        <c:axId val="2"/>
      </c:scatterChart>
      <c:valAx>
        <c:axId val="1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2"/>
        <c:crosses val="autoZero"/>
        <c:crossBetween val="between"/>
      </c:val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t"/>
      <c:overlay val="0"/>
      <c:txPr>
        <a:bodyPr xmlns:a="http://schemas.openxmlformats.org/drawingml/2006/main"/>
        <a:lstStyle xmlns:a="http://schemas.openxmlformats.org/drawingml/2006/main"/>
        <a:p xmlns:a="http://schemas.openxmlformats.org/drawingml/2006/main">
          <a:pPr>
            <a:defRPr sz="1000">
              <a:solidFill>
                <a:srgbClr val="333333"/>
              </a:solidFill>
              <a:latin typeface="Calibri"/>
              <a:ea typeface="Calibri"/>
            </a:defRPr>
          </a:pPr>
        </a:p>
      </c:txPr>
    </c:legend>
    <c:plotVisOnly val="1"/>
    <c:dispBlanksAs val="gap"/>
  </c:chart>
</c:chartSpace>
</file>

<file path=ppt/slides/charts/chart11.xml><?xml version="1.0" encoding="utf-8"?>
<c:chartSpace xmlns:c="http://schemas.openxmlformats.org/drawingml/2006/chart"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legend.overlay=true</a:t>
            </a:r>
          </a:p>
        </c:rich>
      </c:tx>
      <c:overlay val="0"/>
    </c:title>
    <c:plotArea>
      <c:layout/>
      <c:scatterChart>
        <c:scatterStyle val="lineMarker"/>
        <c:varyColors val="0"/>
        <c:ser>
          <c:idx val="0"/>
          <c:order val="0"/>
          <c:tx>
            <c:v>A</c:v>
          </c:tx>
          <c:xVal>
            <c:numLit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xVal>
          <c:yVal>
            <c:numLit>
              <c:ptCount val="8"/>
              <c:pt idx="0">
                <c:v>10</c:v>
              </c:pt>
              <c:pt idx="1">
                <c:v>20</c:v>
              </c:pt>
              <c:pt idx="2">
                <c:v>18</c:v>
              </c:pt>
              <c:pt idx="3">
                <c:v>30</c:v>
              </c:pt>
              <c:pt idx="4">
                <c:v>28</c:v>
              </c:pt>
              <c:pt idx="5">
                <c:v>40</c:v>
              </c:pt>
              <c:pt idx="6">
                <c:v>42</c:v>
              </c:pt>
              <c:pt idx="7">
                <c:v>55</c:v>
              </c:pt>
            </c:numLit>
          </c:yVal>
        </c:ser>
        <c:ser>
          <c:idx val="1"/>
          <c:order val="1"/>
          <c:tx>
            <c:v>B</c:v>
          </c:tx>
          <c:xVal>
            <c:numLit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xVal>
          <c:yVal>
            <c:numLit>
              <c:ptCount val="8"/>
              <c:pt idx="0">
                <c:v>5</c:v>
              </c:pt>
              <c:pt idx="1">
                <c:v>12</c:v>
              </c:pt>
              <c:pt idx="2">
                <c:v>15</c:v>
              </c:pt>
              <c:pt idx="3">
                <c:v>22</c:v>
              </c:pt>
              <c:pt idx="4">
                <c:v>25</c:v>
              </c:pt>
              <c:pt idx="5">
                <c:v>30</c:v>
              </c:pt>
              <c:pt idx="6">
                <c:v>35</c:v>
              </c:pt>
              <c:pt idx="7">
                <c:v>40</c:v>
              </c:pt>
            </c:numLit>
          </c:yVal>
        </c:ser>
        <c:axId val="1"/>
        <c:axId val="2"/>
      </c:scatterChart>
      <c:valAx>
        <c:axId val="1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2"/>
        <c:crosses val="autoZero"/>
        <c:crossBetween val="between"/>
      </c:val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tr"/>
      <c:overlay val="1"/>
    </c:legend>
    <c:plotVisOnly val="1"/>
    <c:dispBlanksAs val="gap"/>
  </c:chart>
</c:chartSpace>
</file>

<file path=ppt/slides/charts/chart12.xml><?xml version="1.0" encoding="utf-8"?>
<c:chartSpace xmlns:c="http://schemas.openxmlformats.org/drawingml/2006/chart"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title.overlay=true</a:t>
            </a:r>
          </a:p>
        </c:rich>
      </c:tx>
      <c:overlay val="1"/>
    </c:title>
    <c:plotArea>
      <c:layout/>
      <c:scatterChart>
        <c:scatterStyle val="marker"/>
        <c:varyColors val="0"/>
        <c:ser>
          <c:idx val="0"/>
          <c:order val="0"/>
          <c:tx>
            <c:v>A</c:v>
          </c:tx>
          <c:spPr>
            <a:ln xmlns:a="http://schemas.openxmlformats.org/drawingml/2006/main">
              <a:noFill/>
            </a:ln>
          </c:spPr>
          <c:xVal>
            <c:numLit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xVal>
          <c:yVal>
            <c:numLit>
              <c:ptCount val="8"/>
              <c:pt idx="0">
                <c:v>10</c:v>
              </c:pt>
              <c:pt idx="1">
                <c:v>20</c:v>
              </c:pt>
              <c:pt idx="2">
                <c:v>18</c:v>
              </c:pt>
              <c:pt idx="3">
                <c:v>30</c:v>
              </c:pt>
              <c:pt idx="4">
                <c:v>28</c:v>
              </c:pt>
              <c:pt idx="5">
                <c:v>40</c:v>
              </c:pt>
              <c:pt idx="6">
                <c:v>42</c:v>
              </c:pt>
              <c:pt idx="7">
                <c:v>55</c:v>
              </c:pt>
            </c:numLit>
          </c:yVal>
        </c:ser>
        <c:ser>
          <c:idx val="1"/>
          <c:order val="1"/>
          <c:tx>
            <c:v>B</c:v>
          </c:tx>
          <c:spPr>
            <a:ln xmlns:a="http://schemas.openxmlformats.org/drawingml/2006/main">
              <a:noFill/>
            </a:ln>
          </c:spPr>
          <c:xVal>
            <c:numLit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xVal>
          <c:yVal>
            <c:numLit>
              <c:ptCount val="8"/>
              <c:pt idx="0">
                <c:v>5</c:v>
              </c:pt>
              <c:pt idx="1">
                <c:v>12</c:v>
              </c:pt>
              <c:pt idx="2">
                <c:v>15</c:v>
              </c:pt>
              <c:pt idx="3">
                <c:v>22</c:v>
              </c:pt>
              <c:pt idx="4">
                <c:v>25</c:v>
              </c:pt>
              <c:pt idx="5">
                <c:v>30</c:v>
              </c:pt>
              <c:pt idx="6">
                <c:v>35</c:v>
              </c:pt>
              <c:pt idx="7">
                <c:v>40</c:v>
              </c:pt>
            </c:numLit>
          </c:yVal>
        </c:ser>
        <c:axId val="1"/>
        <c:axId val="2"/>
      </c:scatterChart>
      <c:valAx>
        <c:axId val="1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2"/>
        <c:crosses val="autoZero"/>
        <c:crossBetween val="between"/>
      </c:val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plotVisOnly val="1"/>
    <c:dispBlanksAs val="gap"/>
  </c:chart>
</c:chartSpace>
</file>

<file path=ppt/slides/charts/chart13.xml><?xml version="1.0" encoding="utf-8"?>
<c:chartSpace xmlns:c="http://schemas.openxmlformats.org/drawingml/2006/chart"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value</a:t>
            </a:r>
          </a:p>
        </c:rich>
      </c:tx>
      <c:overlay val="0"/>
    </c:title>
    <c:plotArea>
      <c:layout/>
      <c:scatterChart>
        <c:scatterStyle val="marker"/>
        <c:varyColors val="0"/>
        <c:ser>
          <c:idx val="0"/>
          <c:order val="0"/>
          <c:tx>
            <c:v>A</c:v>
          </c:tx>
          <c:spPr>
            <a:ln xmlns:a="http://schemas.openxmlformats.org/drawingml/2006/main">
              <a:noFill/>
            </a:ln>
          </c:spPr>
          <c:xVal>
            <c:numLit>
              <c:ptCount val="1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</c:numLit>
          </c:xVal>
          <c:yVal>
            <c:numLit>
              <c:ptCount val="10"/>
              <c:pt idx="0">
                <c:v>10</c:v>
              </c:pt>
              <c:pt idx="1">
                <c:v>20</c:v>
              </c:pt>
              <c:pt idx="2">
                <c:v>18</c:v>
              </c:pt>
              <c:pt idx="3">
                <c:v>30</c:v>
              </c:pt>
              <c:pt idx="4">
                <c:v>28</c:v>
              </c:pt>
              <c:pt idx="5">
                <c:v>40</c:v>
              </c:pt>
              <c:pt idx="6">
                <c:v>42</c:v>
              </c:pt>
              <c:pt idx="7">
                <c:v>55</c:v>
              </c:pt>
              <c:pt idx="8">
                <c:v>52</c:v>
              </c:pt>
              <c:pt idx="9">
                <c:v>65</c:v>
              </c:pt>
            </c:numLit>
          </c:yVal>
        </c:ser>
        <c:dLbls>
          <c:txPr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333333"/>
                  </a:solidFill>
                  <a:latin typeface="Calibri"/>
                  <a:ea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</c:dLbls>
        <c:axId val="1"/>
        <c:axId val="2"/>
      </c:scatterChart>
      <c:valAx>
        <c:axId val="1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2"/>
        <c:crosses val="autoZero"/>
        <c:crossBetween val="between"/>
      </c:val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plotVisOnly val="1"/>
    <c:dispBlanksAs val="gap"/>
  </c:chart>
</c:chartSpace>
</file>

<file path=ppt/slides/charts/chart14.xml><?xml version="1.0" encoding="utf-8"?>
<c:chartSpace xmlns:c="http://schemas.openxmlformats.org/drawingml/2006/chart"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value,series</a:t>
            </a:r>
          </a:p>
        </c:rich>
      </c:tx>
      <c:overlay val="0"/>
    </c:title>
    <c:plotArea>
      <c:layout/>
      <c:scatterChart>
        <c:scatterStyle val="marker"/>
        <c:varyColors val="0"/>
        <c:ser>
          <c:idx val="0"/>
          <c:order val="0"/>
          <c:tx>
            <c:v>A</c:v>
          </c:tx>
          <c:spPr>
            <a:ln xmlns:a="http://schemas.openxmlformats.org/drawingml/2006/main">
              <a:noFill/>
            </a:ln>
          </c:spPr>
          <c:xVal>
            <c:numLit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xVal>
          <c:yVal>
            <c:numLit>
              <c:ptCount val="8"/>
              <c:pt idx="0">
                <c:v>10</c:v>
              </c:pt>
              <c:pt idx="1">
                <c:v>20</c:v>
              </c:pt>
              <c:pt idx="2">
                <c:v>18</c:v>
              </c:pt>
              <c:pt idx="3">
                <c:v>30</c:v>
              </c:pt>
              <c:pt idx="4">
                <c:v>28</c:v>
              </c:pt>
              <c:pt idx="5">
                <c:v>40</c:v>
              </c:pt>
              <c:pt idx="6">
                <c:v>42</c:v>
              </c:pt>
              <c:pt idx="7">
                <c:v>55</c:v>
              </c:pt>
            </c:numLit>
          </c:yVal>
        </c:ser>
        <c:ser>
          <c:idx val="1"/>
          <c:order val="1"/>
          <c:tx>
            <c:v>B</c:v>
          </c:tx>
          <c:spPr>
            <a:ln xmlns:a="http://schemas.openxmlformats.org/drawingml/2006/main">
              <a:noFill/>
            </a:ln>
          </c:spPr>
          <c:xVal>
            <c:numLit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xVal>
          <c:yVal>
            <c:numLit>
              <c:ptCount val="8"/>
              <c:pt idx="0">
                <c:v>5</c:v>
              </c:pt>
              <c:pt idx="1">
                <c:v>12</c:v>
              </c:pt>
              <c:pt idx="2">
                <c:v>15</c:v>
              </c:pt>
              <c:pt idx="3">
                <c:v>22</c:v>
              </c:pt>
              <c:pt idx="4">
                <c:v>25</c:v>
              </c:pt>
              <c:pt idx="5">
                <c:v>30</c:v>
              </c:pt>
              <c:pt idx="6">
                <c:v>35</c:v>
              </c:pt>
              <c:pt idx="7">
                <c:v>40</c:v>
              </c:pt>
            </c:numLit>
          </c:yVal>
        </c:ser>
        <c:dLbls>
          <c:showLegendKey val="0"/>
          <c:showVal val="1"/>
          <c:showCatName val="0"/>
          <c:showSerName val="1"/>
          <c:showPercent val="0"/>
        </c:dLbls>
        <c:axId val="1"/>
        <c:axId val="2"/>
      </c:scatterChart>
      <c:valAx>
        <c:axId val="1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2"/>
        <c:crosses val="autoZero"/>
        <c:crossBetween val="between"/>
      </c:val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plotVisOnly val="1"/>
    <c:dispBlanksAs val="gap"/>
  </c:chart>
</c:chartSpace>
</file>

<file path=ppt/slides/charts/chart15.xml><?xml version="1.0" encoding="utf-8"?>
<c:chartSpace xmlns:c="http://schemas.openxmlformats.org/drawingml/2006/chart"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labelPos=top</a:t>
            </a:r>
          </a:p>
        </c:rich>
      </c:tx>
      <c:overlay val="0"/>
    </c:title>
    <c:plotArea>
      <c:layout/>
      <c:scatterChart>
        <c:scatterStyle val="marker"/>
        <c:varyColors val="0"/>
        <c:ser>
          <c:idx val="0"/>
          <c:order val="0"/>
          <c:tx>
            <c:v>A</c:v>
          </c:tx>
          <c:spPr>
            <a:ln xmlns:a="http://schemas.openxmlformats.org/drawingml/2006/main">
              <a:noFill/>
            </a:ln>
          </c:spPr>
          <c:xVal>
            <c:numLit>
              <c:ptCount val="1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</c:numLit>
          </c:xVal>
          <c:yVal>
            <c:numLit>
              <c:ptCount val="10"/>
              <c:pt idx="0">
                <c:v>10</c:v>
              </c:pt>
              <c:pt idx="1">
                <c:v>20</c:v>
              </c:pt>
              <c:pt idx="2">
                <c:v>18</c:v>
              </c:pt>
              <c:pt idx="3">
                <c:v>30</c:v>
              </c:pt>
              <c:pt idx="4">
                <c:v>28</c:v>
              </c:pt>
              <c:pt idx="5">
                <c:v>40</c:v>
              </c:pt>
              <c:pt idx="6">
                <c:v>42</c:v>
              </c:pt>
              <c:pt idx="7">
                <c:v>55</c:v>
              </c:pt>
              <c:pt idx="8">
                <c:v>52</c:v>
              </c:pt>
              <c:pt idx="9">
                <c:v>65</c:v>
              </c:pt>
            </c:numLit>
          </c:yVal>
        </c:ser>
        <c:dLbls>
          <c:dLblPos val="t"/>
          <c:showLegendKey val="0"/>
          <c:showVal val="1"/>
          <c:showCatName val="0"/>
          <c:showSerName val="0"/>
          <c:showPercent val="0"/>
        </c:dLbls>
        <c:axId val="1"/>
        <c:axId val="2"/>
      </c:scatterChart>
      <c:valAx>
        <c:axId val="1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2"/>
        <c:crosses val="autoZero"/>
        <c:crossBetween val="between"/>
      </c:val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plotVisOnly val="1"/>
    <c:dispBlanksAs val="gap"/>
  </c:chart>
</c:chartSpace>
</file>

<file path=ppt/slides/charts/chart16.xml><?xml version="1.0" encoding="utf-8"?>
<c:chartSpace xmlns:c="http://schemas.openxmlformats.org/drawingml/2006/chart"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dataLabels=none</a:t>
            </a:r>
          </a:p>
        </c:rich>
      </c:tx>
      <c:overlay val="0"/>
    </c:title>
    <c:plotArea>
      <c:layout/>
      <c:scatterChart>
        <c:scatterStyle val="marker"/>
        <c:varyColors val="0"/>
        <c:ser>
          <c:idx val="0"/>
          <c:order val="0"/>
          <c:tx>
            <c:v>A</c:v>
          </c:tx>
          <c:spPr>
            <a:ln xmlns:a="http://schemas.openxmlformats.org/drawingml/2006/main">
              <a:noFill/>
            </a:ln>
          </c:spPr>
          <c:xVal>
            <c:numLit>
              <c:ptCount val="1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</c:numLit>
          </c:xVal>
          <c:yVal>
            <c:numLit>
              <c:ptCount val="10"/>
              <c:pt idx="0">
                <c:v>10</c:v>
              </c:pt>
              <c:pt idx="1">
                <c:v>20</c:v>
              </c:pt>
              <c:pt idx="2">
                <c:v>18</c:v>
              </c:pt>
              <c:pt idx="3">
                <c:v>30</c:v>
              </c:pt>
              <c:pt idx="4">
                <c:v>28</c:v>
              </c:pt>
              <c:pt idx="5">
                <c:v>40</c:v>
              </c:pt>
              <c:pt idx="6">
                <c:v>42</c:v>
              </c:pt>
              <c:pt idx="7">
                <c:v>55</c:v>
              </c:pt>
              <c:pt idx="8">
                <c:v>52</c:v>
              </c:pt>
              <c:pt idx="9">
                <c:v>65</c:v>
              </c:pt>
            </c:numLit>
          </c:yVal>
        </c:ser>
        <c:axId val="1"/>
        <c:axId val="2"/>
      </c:scatterChart>
      <c:valAx>
        <c:axId val="1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2"/>
        <c:crosses val="autoZero"/>
        <c:crossBetween val="between"/>
      </c:val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plotVisOnly val="1"/>
    <c:dispBlanksAs val="gap"/>
  </c:chart>
</c:chartSpace>
</file>

<file path=ppt/slides/charts/chart17.xml><?xml version="1.0" encoding="utf-8"?>
<c:chartSpace xmlns:c="http://schemas.openxmlformats.org/drawingml/2006/chart"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min/max + titles</a:t>
            </a:r>
          </a:p>
        </c:rich>
      </c:tx>
      <c:overlay val="0"/>
    </c:title>
    <c:plotArea>
      <c:layout/>
      <c:scatterChart>
        <c:scatterStyle val="lineMarker"/>
        <c:varyColors val="0"/>
        <c:ser>
          <c:idx val="0"/>
          <c:order val="0"/>
          <c:tx>
            <c:v>A</c:v>
          </c:tx>
          <c:xVal>
            <c:numLit>
              <c:ptCount val="1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</c:numLit>
          </c:xVal>
          <c:yVal>
            <c:numLit>
              <c:ptCount val="10"/>
              <c:pt idx="0">
                <c:v>10</c:v>
              </c:pt>
              <c:pt idx="1">
                <c:v>20</c:v>
              </c:pt>
              <c:pt idx="2">
                <c:v>18</c:v>
              </c:pt>
              <c:pt idx="3">
                <c:v>30</c:v>
              </c:pt>
              <c:pt idx="4">
                <c:v>28</c:v>
              </c:pt>
              <c:pt idx="5">
                <c:v>40</c:v>
              </c:pt>
              <c:pt idx="6">
                <c:v>42</c:v>
              </c:pt>
              <c:pt idx="7">
                <c:v>55</c:v>
              </c:pt>
              <c:pt idx="8">
                <c:v>52</c:v>
              </c:pt>
              <c:pt idx="9">
                <c:v>65</c:v>
              </c:pt>
            </c:numLit>
          </c:yVal>
        </c:ser>
        <c:axId val="1"/>
        <c:axId val="2"/>
      </c:scatterChart>
      <c:valAx>
        <c:axId val="1"/>
        <c:scaling>
          <c:orientation val="minMax"/>
          <c:max val="80"/>
          <c:min val="0"/>
        </c:scaling>
        <c:delete val="0"/>
        <c:axPos val="b"/>
        <c:majorGridlines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pPr>
                  <a:defRPr sz="1400" b="1"/>
                </a:pPr>
                <a:r>
                  <a:rPr lang="en-US" sz="1400" b="1"/>
                  <a:t>Y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 xmlns:a="http://schemas.openxmlformats.org/drawingml/2006/main" w="12700">
            <a:solidFill>
              <a:srgbClr val="666666"/>
            </a:solidFill>
          </a:ln>
        </c:spPr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333333"/>
                </a:solidFill>
                <a:latin typeface="Calibri"/>
                <a:ea typeface="Calibri"/>
              </a:defRPr>
            </a:pPr>
          </a:p>
        </c:txPr>
        <c:crossAx val="2"/>
        <c:crosses val="autoZero"/>
        <c:crossBetween val="between"/>
        <c:majorUnit val="20"/>
      </c:val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spPr>
          <a:ln xmlns:a="http://schemas.openxmlformats.org/drawingml/2006/main" w="12700">
            <a:solidFill>
              <a:srgbClr val="666666"/>
            </a:solidFill>
          </a:ln>
        </c:spPr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333333"/>
                </a:solidFill>
                <a:latin typeface="Calibri"/>
                <a:ea typeface="Calibri"/>
              </a:defRPr>
            </a:pPr>
          </a:p>
        </c:txPr>
        <c:crossAx val="1"/>
        <c:crosses val="autoZero"/>
        <c:crossBetween val="between"/>
      </c:valAx>
    </c:plotArea>
    <c:plotVisOnly val="1"/>
    <c:dispBlanksAs val="gap"/>
  </c:chart>
</c:chartSpace>
</file>

<file path=ppt/slides/charts/chart18.xml><?xml version="1.0" encoding="utf-8"?>
<c:chartSpace xmlns:c="http://schemas.openxmlformats.org/drawingml/2006/chart"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gridlines + minorGridlines</a:t>
            </a:r>
          </a:p>
        </c:rich>
      </c:tx>
      <c:overlay val="0"/>
    </c:title>
    <c:plotArea>
      <c:layout/>
      <c:scatterChart>
        <c:scatterStyle val="marker"/>
        <c:varyColors val="0"/>
        <c:ser>
          <c:idx val="0"/>
          <c:order val="0"/>
          <c:tx>
            <c:v>A</c:v>
          </c:tx>
          <c:spPr>
            <a:ln xmlns:a="http://schemas.openxmlformats.org/drawingml/2006/main">
              <a:noFill/>
            </a:ln>
          </c:spPr>
          <c:xVal>
            <c:numLit>
              <c:ptCount val="1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</c:numLit>
          </c:xVal>
          <c:yVal>
            <c:numLit>
              <c:ptCount val="10"/>
              <c:pt idx="0">
                <c:v>10</c:v>
              </c:pt>
              <c:pt idx="1">
                <c:v>20</c:v>
              </c:pt>
              <c:pt idx="2">
                <c:v>18</c:v>
              </c:pt>
              <c:pt idx="3">
                <c:v>30</c:v>
              </c:pt>
              <c:pt idx="4">
                <c:v>28</c:v>
              </c:pt>
              <c:pt idx="5">
                <c:v>40</c:v>
              </c:pt>
              <c:pt idx="6">
                <c:v>42</c:v>
              </c:pt>
              <c:pt idx="7">
                <c:v>55</c:v>
              </c:pt>
              <c:pt idx="8">
                <c:v>52</c:v>
              </c:pt>
              <c:pt idx="9">
                <c:v>65</c:v>
              </c:pt>
            </c:numLit>
          </c:yVal>
        </c:ser>
        <c:axId val="1"/>
        <c:axId val="2"/>
      </c:scatterChart>
      <c:valAx>
        <c:axId val="1"/>
        <c:scaling>
          <c:orientation val="minMax"/>
        </c:scaling>
        <c:delete val="0"/>
        <c:axPos val="b"/>
        <c:majorGridlines>
          <c:spPr>
            <a:ln xmlns:a="http://schemas.openxmlformats.org/drawingml/2006/main" w="3810">
              <a:solidFill>
                <a:srgbClr val="E0E0E0"/>
              </a:solidFill>
            </a:ln>
          </c:spPr>
        </c:majorGridlines>
        <c:minorGridlines>
          <c:spPr>
            <a:ln xmlns:a="http://schemas.openxmlformats.org/drawingml/2006/main" w="3175">
              <a:solidFill>
                <a:srgbClr val="F0F0F0"/>
              </a:solidFill>
            </a:ln>
          </c:spPr>
        </c:minorGridlines>
        <c:numFmt formatCode="General" sourceLinked="1"/>
        <c:majorTickMark val="out"/>
        <c:minorTickMark val="none"/>
        <c:tickLblPos val="nextTo"/>
        <c:crossAx val="2"/>
        <c:crosses val="autoZero"/>
        <c:crossBetween val="between"/>
      </c:val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plotVisOnly val="1"/>
    <c:dispBlanksAs val="gap"/>
  </c:chart>
</c:chartSpace>
</file>

<file path=ppt/slides/charts/chart19.xml><?xml version="1.0" encoding="utf-8"?>
<c:chartSpace xmlns:c="http://schemas.openxmlformats.org/drawingml/2006/chart"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labelrotation=-30</a:t>
            </a:r>
          </a:p>
        </c:rich>
      </c:tx>
      <c:overlay val="0"/>
    </c:title>
    <c:plotArea>
      <c:layout/>
      <c:scatterChart>
        <c:scatterStyle val="marker"/>
        <c:varyColors val="0"/>
        <c:ser>
          <c:idx val="0"/>
          <c:order val="0"/>
          <c:tx>
            <c:v>A</c:v>
          </c:tx>
          <c:spPr>
            <a:ln xmlns:a="http://schemas.openxmlformats.org/drawingml/2006/main">
              <a:noFill/>
            </a:ln>
          </c:spPr>
          <c:xVal>
            <c:numLit>
              <c:ptCount val="1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</c:numLit>
          </c:xVal>
          <c:yVal>
            <c:numLit>
              <c:ptCount val="10"/>
              <c:pt idx="0">
                <c:v>10</c:v>
              </c:pt>
              <c:pt idx="1">
                <c:v>20</c:v>
              </c:pt>
              <c:pt idx="2">
                <c:v>18</c:v>
              </c:pt>
              <c:pt idx="3">
                <c:v>30</c:v>
              </c:pt>
              <c:pt idx="4">
                <c:v>28</c:v>
              </c:pt>
              <c:pt idx="5">
                <c:v>40</c:v>
              </c:pt>
              <c:pt idx="6">
                <c:v>42</c:v>
              </c:pt>
              <c:pt idx="7">
                <c:v>55</c:v>
              </c:pt>
              <c:pt idx="8">
                <c:v>52</c:v>
              </c:pt>
              <c:pt idx="9">
                <c:v>65</c:v>
              </c:pt>
            </c:numLit>
          </c:yVal>
        </c:ser>
        <c:axId val="1"/>
        <c:axId val="2"/>
      </c:scatterChart>
      <c:valAx>
        <c:axId val="1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 xmlns:a="http://schemas.openxmlformats.org/drawingml/2006/main" rot="-1800000"/>
          <a:lstStyle xmlns:a="http://schemas.openxmlformats.org/drawingml/2006/main"/>
          <a:p xmlns:a="http://schemas.openxmlformats.org/drawingml/2006/main">
            <a:pPr/>
            <a:endParaRPr lang="en-US"/>
          </a:p>
        </c:txPr>
        <c:crossAx val="2"/>
        <c:crosses val="autoZero"/>
        <c:crossBetween val="between"/>
      </c:val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xmlns:a="http://schemas.openxmlformats.org/drawingml/2006/main" rot="-1800000"/>
          <a:lstStyle xmlns:a="http://schemas.openxmlformats.org/drawingml/2006/main"/>
          <a:p xmlns:a="http://schemas.openxmlformats.org/drawingml/2006/main">
            <a:pPr/>
            <a:endParaRPr lang="en-US"/>
          </a:p>
        </c:txPr>
        <c:crossAx val="1"/>
        <c:crosses val="autoZero"/>
        <c:crossBetween val="between"/>
      </c:valAx>
    </c:plotArea>
    <c:plotVisOnly val="1"/>
    <c:dispBlanksAs val="gap"/>
  </c:chart>
</c:chartSpace>
</file>

<file path=ppt/slides/charts/chart20.xml><?xml version="1.0" encoding="utf-8"?>
<c:chartSpace xmlns:c="http://schemas.openxmlformats.org/drawingml/2006/chart"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logbase=10 (Y)</a:t>
            </a:r>
          </a:p>
        </c:rich>
      </c:tx>
      <c:overlay val="0"/>
    </c:title>
    <c:plotArea>
      <c:layout/>
      <c:scatterChart>
        <c:scatterStyle val="marker"/>
        <c:varyColors val="0"/>
        <c:ser>
          <c:idx val="0"/>
          <c:order val="0"/>
          <c:tx>
            <c:v>A</c:v>
          </c:tx>
          <c:spPr>
            <a:ln xmlns:a="http://schemas.openxmlformats.org/drawingml/2006/main">
              <a:noFill/>
            </a:ln>
          </c:spPr>
          <c:xVal>
            <c:numLit>
              <c:ptCount val="7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</c:numLit>
          </c:xVal>
          <c:yVal>
            <c:numLit>
              <c:ptCount val="7"/>
              <c:pt idx="0">
                <c:v>2</c:v>
              </c:pt>
              <c:pt idx="1">
                <c:v>5</c:v>
              </c:pt>
              <c:pt idx="2">
                <c:v>8</c:v>
              </c:pt>
              <c:pt idx="3">
                <c:v>12</c:v>
              </c:pt>
              <c:pt idx="4">
                <c:v>20</c:v>
              </c:pt>
              <c:pt idx="5">
                <c:v>40</c:v>
              </c:pt>
              <c:pt idx="6">
                <c:v>80</c:v>
              </c:pt>
            </c:numLit>
          </c:yVal>
        </c:ser>
        <c:axId val="1"/>
        <c:axId val="2"/>
      </c:scatterChart>
      <c:valAx>
        <c:axId val="1"/>
        <c:scaling>
          <c:logBase val="10"/>
          <c:orientation val="minMax"/>
          <c:max val="100"/>
          <c:min val="1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2"/>
        <c:crosses val="autoZero"/>
        <c:crossBetween val="between"/>
      </c:val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plotVisOnly val="1"/>
    <c:dispBlanksAs val="gap"/>
  </c:chart>
</c:chartSpace>
</file>

<file path=ppt/slides/charts/chart21.xml><?xml version="1.0" encoding="utf-8"?>
<c:chartSpace xmlns:c="http://schemas.openxmlformats.org/drawingml/2006/chart"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colors + seriesoutline</a:t>
            </a:r>
          </a:p>
        </c:rich>
      </c:tx>
      <c:overlay val="0"/>
    </c:title>
    <c:plotArea>
      <c:layout/>
      <c:scatterChart>
        <c:scatterStyle val="marker"/>
        <c:varyColors val="0"/>
        <c:ser>
          <c:idx val="0"/>
          <c:order val="0"/>
          <c:tx>
            <c:v>A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 w="6350">
              <a:solidFill>
                <a:srgbClr val="000000"/>
              </a:solidFill>
            </a:ln>
          </c:spPr>
          <c:xVal>
            <c:numLit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xVal>
          <c:yVal>
            <c:numLit>
              <c:ptCount val="8"/>
              <c:pt idx="0">
                <c:v>10</c:v>
              </c:pt>
              <c:pt idx="1">
                <c:v>20</c:v>
              </c:pt>
              <c:pt idx="2">
                <c:v>18</c:v>
              </c:pt>
              <c:pt idx="3">
                <c:v>30</c:v>
              </c:pt>
              <c:pt idx="4">
                <c:v>28</c:v>
              </c:pt>
              <c:pt idx="5">
                <c:v>40</c:v>
              </c:pt>
              <c:pt idx="6">
                <c:v>42</c:v>
              </c:pt>
              <c:pt idx="7">
                <c:v>55</c:v>
              </c:pt>
            </c:numLit>
          </c:yVal>
        </c:ser>
        <c:ser>
          <c:idx val="1"/>
          <c:order val="1"/>
          <c:tx>
            <c:v>B</c:v>
          </c:tx>
          <c:spPr>
            <a:solidFill xmlns:a="http://schemas.openxmlformats.org/drawingml/2006/main">
              <a:srgbClr val="ED7D31"/>
            </a:solidFill>
            <a:ln xmlns:a="http://schemas.openxmlformats.org/drawingml/2006/main" w="6350">
              <a:solidFill>
                <a:srgbClr val="000000"/>
              </a:solidFill>
            </a:ln>
          </c:spPr>
          <c:xVal>
            <c:numLit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xVal>
          <c:yVal>
            <c:numLit>
              <c:ptCount val="8"/>
              <c:pt idx="0">
                <c:v>5</c:v>
              </c:pt>
              <c:pt idx="1">
                <c:v>12</c:v>
              </c:pt>
              <c:pt idx="2">
                <c:v>15</c:v>
              </c:pt>
              <c:pt idx="3">
                <c:v>22</c:v>
              </c:pt>
              <c:pt idx="4">
                <c:v>25</c:v>
              </c:pt>
              <c:pt idx="5">
                <c:v>30</c:v>
              </c:pt>
              <c:pt idx="6">
                <c:v>35</c:v>
              </c:pt>
              <c:pt idx="7">
                <c:v>40</c:v>
              </c:pt>
            </c:numLit>
          </c:yVal>
        </c:ser>
        <c:axId val="1"/>
        <c:axId val="2"/>
      </c:scatterChart>
      <c:valAx>
        <c:axId val="1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2"/>
        <c:crosses val="autoZero"/>
        <c:crossBetween val="between"/>
      </c:val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charts/chart22.xml><?xml version="1.0" encoding="utf-8"?>
<c:chartSpace xmlns:c="http://schemas.openxmlformats.org/drawingml/2006/chart"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gradient + seriesshadow</a:t>
            </a:r>
          </a:p>
        </c:rich>
      </c:tx>
      <c:overlay val="0"/>
    </c:title>
    <c:plotArea>
      <c:layout/>
      <c:scatterChart>
        <c:scatterStyle val="marker"/>
        <c:varyColors val="0"/>
        <c:ser>
          <c:idx val="0"/>
          <c:order val="0"/>
          <c:tx>
            <c:v>A</c:v>
          </c:tx>
          <c:spPr>
            <a:gradFill xmlns:a="http://schemas.openxmlformats.org/drawingml/2006/main">
              <a:gsLst>
                <a:gs pos="0">
                  <a:srgbClr val="FF6600"/>
                </a:gs>
                <a:gs pos="100000">
                  <a:srgbClr val="FFCC00"/>
                </a:gs>
              </a:gsLst>
              <a:lin ang="0" scaled="1"/>
            </a:gradFill>
            <a:ln xmlns:a="http://schemas.openxmlformats.org/drawingml/2006/main">
              <a:noFill/>
            </a:ln>
            <a:effectLst xmlns:a="http://schemas.openxmlformats.org/drawingml/2006/main">
              <a:outerShdw blurRad="63500" dist="38100" dir="2700000" algn="tl" rotWithShape="0">
                <a:srgbClr val="000000">
                  <a:alpha val="50000"/>
                </a:srgbClr>
              </a:outerShdw>
            </a:effectLst>
          </c:spPr>
          <c:xVal>
            <c:numLit>
              <c:ptCount val="1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</c:numLit>
          </c:xVal>
          <c:yVal>
            <c:numLit>
              <c:ptCount val="10"/>
              <c:pt idx="0">
                <c:v>10</c:v>
              </c:pt>
              <c:pt idx="1">
                <c:v>20</c:v>
              </c:pt>
              <c:pt idx="2">
                <c:v>18</c:v>
              </c:pt>
              <c:pt idx="3">
                <c:v>30</c:v>
              </c:pt>
              <c:pt idx="4">
                <c:v>28</c:v>
              </c:pt>
              <c:pt idx="5">
                <c:v>40</c:v>
              </c:pt>
              <c:pt idx="6">
                <c:v>42</c:v>
              </c:pt>
              <c:pt idx="7">
                <c:v>55</c:v>
              </c:pt>
              <c:pt idx="8">
                <c:v>52</c:v>
              </c:pt>
              <c:pt idx="9">
                <c:v>65</c:v>
              </c:pt>
            </c:numLit>
          </c:yVal>
        </c:ser>
        <c:axId val="1"/>
        <c:axId val="2"/>
      </c:scatterChart>
      <c:valAx>
        <c:axId val="1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2"/>
        <c:crosses val="autoZero"/>
        <c:crossBetween val="between"/>
      </c:val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plotVisOnly val="1"/>
    <c:dispBlanksAs val="gap"/>
  </c:chart>
</c:chartSpace>
</file>

<file path=ppt/slides/charts/chart23.xml><?xml version="1.0" encoding="utf-8"?>
<c:chartSpace xmlns:c="http://schemas.openxmlformats.org/drawingml/2006/chart"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transparency=30</a:t>
            </a:r>
          </a:p>
        </c:rich>
      </c:tx>
      <c:overlay val="0"/>
    </c:title>
    <c:plotArea>
      <c:layout/>
      <c:scatterChart>
        <c:scatterStyle val="marker"/>
        <c:varyColors val="0"/>
        <c:ser>
          <c:idx val="0"/>
          <c:order val="0"/>
          <c:tx>
            <c:v>A</c:v>
          </c:tx>
          <c:spPr>
            <a:ln xmlns:a="http://schemas.openxmlformats.org/drawingml/2006/main">
              <a:noFill/>
            </a:ln>
          </c:spPr>
          <c:xVal>
            <c:numLit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xVal>
          <c:yVal>
            <c:numLit>
              <c:ptCount val="8"/>
              <c:pt idx="0">
                <c:v>10</c:v>
              </c:pt>
              <c:pt idx="1">
                <c:v>20</c:v>
              </c:pt>
              <c:pt idx="2">
                <c:v>18</c:v>
              </c:pt>
              <c:pt idx="3">
                <c:v>30</c:v>
              </c:pt>
              <c:pt idx="4">
                <c:v>28</c:v>
              </c:pt>
              <c:pt idx="5">
                <c:v>40</c:v>
              </c:pt>
              <c:pt idx="6">
                <c:v>42</c:v>
              </c:pt>
              <c:pt idx="7">
                <c:v>55</c:v>
              </c:pt>
            </c:numLit>
          </c:yVal>
        </c:ser>
        <c:ser>
          <c:idx val="1"/>
          <c:order val="1"/>
          <c:tx>
            <c:v>B</c:v>
          </c:tx>
          <c:spPr>
            <a:ln xmlns:a="http://schemas.openxmlformats.org/drawingml/2006/main">
              <a:noFill/>
            </a:ln>
          </c:spPr>
          <c:xVal>
            <c:numLit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xVal>
          <c:yVal>
            <c:numLit>
              <c:ptCount val="8"/>
              <c:pt idx="0">
                <c:v>5</c:v>
              </c:pt>
              <c:pt idx="1">
                <c:v>12</c:v>
              </c:pt>
              <c:pt idx="2">
                <c:v>15</c:v>
              </c:pt>
              <c:pt idx="3">
                <c:v>22</c:v>
              </c:pt>
              <c:pt idx="4">
                <c:v>25</c:v>
              </c:pt>
              <c:pt idx="5">
                <c:v>30</c:v>
              </c:pt>
              <c:pt idx="6">
                <c:v>35</c:v>
              </c:pt>
              <c:pt idx="7">
                <c:v>40</c:v>
              </c:pt>
            </c:numLit>
          </c:yVal>
        </c:ser>
        <c:axId val="1"/>
        <c:axId val="2"/>
      </c:scatterChart>
      <c:valAx>
        <c:axId val="1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2"/>
        <c:crosses val="autoZero"/>
        <c:crossBetween val="between"/>
      </c:val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charts/chart24.xml><?xml version="1.0" encoding="utf-8"?>
<c:chartSpace xmlns:c="http://schemas.openxmlformats.org/drawingml/2006/chart"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per-series gradients</a:t>
            </a:r>
          </a:p>
        </c:rich>
      </c:tx>
      <c:overlay val="0"/>
    </c:title>
    <c:plotArea>
      <c:layout/>
      <c:scatterChart>
        <c:scatterStyle val="marker"/>
        <c:varyColors val="0"/>
        <c:ser>
          <c:idx val="0"/>
          <c:order val="0"/>
          <c:tx>
            <c:v>A</c:v>
          </c:tx>
          <c:spPr>
            <a:gradFill xmlns:a="http://schemas.openxmlformats.org/drawingml/2006/main">
              <a:gsLst>
                <a:gs pos="0">
                  <a:srgbClr val="FF0000"/>
                </a:gs>
                <a:gs pos="100000">
                  <a:srgbClr val="0000FF"/>
                </a:gs>
              </a:gsLst>
              <a:lin ang="0" scaled="1"/>
            </a:gradFill>
            <a:ln xmlns:a="http://schemas.openxmlformats.org/drawingml/2006/main">
              <a:noFill/>
            </a:ln>
          </c:spPr>
          <c:xVal>
            <c:numLit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xVal>
          <c:yVal>
            <c:numLit>
              <c:ptCount val="8"/>
              <c:pt idx="0">
                <c:v>10</c:v>
              </c:pt>
              <c:pt idx="1">
                <c:v>20</c:v>
              </c:pt>
              <c:pt idx="2">
                <c:v>18</c:v>
              </c:pt>
              <c:pt idx="3">
                <c:v>30</c:v>
              </c:pt>
              <c:pt idx="4">
                <c:v>28</c:v>
              </c:pt>
              <c:pt idx="5">
                <c:v>40</c:v>
              </c:pt>
              <c:pt idx="6">
                <c:v>42</c:v>
              </c:pt>
              <c:pt idx="7">
                <c:v>55</c:v>
              </c:pt>
            </c:numLit>
          </c:yVal>
        </c:ser>
        <c:ser>
          <c:idx val="1"/>
          <c:order val="1"/>
          <c:tx>
            <c:v>B</c:v>
          </c:tx>
          <c:spPr>
            <a:gradFill xmlns:a="http://schemas.openxmlformats.org/drawingml/2006/main">
              <a:gsLst>
                <a:gs pos="0">
                  <a:srgbClr val="00FF00"/>
                </a:gs>
                <a:gs pos="100000">
                  <a:srgbClr val="FFFF00"/>
                </a:gs>
              </a:gsLst>
              <a:lin ang="0" scaled="1"/>
            </a:gradFill>
            <a:ln xmlns:a="http://schemas.openxmlformats.org/drawingml/2006/main">
              <a:noFill/>
            </a:ln>
          </c:spPr>
          <c:xVal>
            <c:numLit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xVal>
          <c:yVal>
            <c:numLit>
              <c:ptCount val="8"/>
              <c:pt idx="0">
                <c:v>5</c:v>
              </c:pt>
              <c:pt idx="1">
                <c:v>12</c:v>
              </c:pt>
              <c:pt idx="2">
                <c:v>15</c:v>
              </c:pt>
              <c:pt idx="3">
                <c:v>22</c:v>
              </c:pt>
              <c:pt idx="4">
                <c:v>25</c:v>
              </c:pt>
              <c:pt idx="5">
                <c:v>30</c:v>
              </c:pt>
              <c:pt idx="6">
                <c:v>35</c:v>
              </c:pt>
              <c:pt idx="7">
                <c:v>40</c:v>
              </c:pt>
            </c:numLit>
          </c:yVal>
        </c:ser>
        <c:axId val="1"/>
        <c:axId val="2"/>
      </c:scatterChart>
      <c:valAx>
        <c:axId val="1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2"/>
        <c:crosses val="autoZero"/>
        <c:crossBetween val="between"/>
      </c:val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charts/chart25.xml><?xml version="1.0" encoding="utf-8"?>
<c:chartSpace xmlns:c="http://schemas.openxmlformats.org/drawingml/2006/chart"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trendline=linear</a:t>
            </a:r>
          </a:p>
        </c:rich>
      </c:tx>
      <c:overlay val="0"/>
    </c:title>
    <c:plotArea>
      <c:layout/>
      <c:scatterChart>
        <c:scatterStyle val="marker"/>
        <c:varyColors val="0"/>
        <c:ser>
          <c:idx val="0"/>
          <c:order val="0"/>
          <c:tx>
            <c:v>A</c:v>
          </c:tx>
          <c:spPr>
            <a:ln xmlns:a="http://schemas.openxmlformats.org/drawingml/2006/main">
              <a:noFill/>
            </a:ln>
          </c:spPr>
          <c:trendline>
            <c:trendlineType val="linear"/>
          </c:trendline>
          <c:xVal>
            <c:numLit>
              <c:ptCount val="1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</c:numLit>
          </c:xVal>
          <c:yVal>
            <c:numLit>
              <c:ptCount val="10"/>
              <c:pt idx="0">
                <c:v>10</c:v>
              </c:pt>
              <c:pt idx="1">
                <c:v>20</c:v>
              </c:pt>
              <c:pt idx="2">
                <c:v>18</c:v>
              </c:pt>
              <c:pt idx="3">
                <c:v>30</c:v>
              </c:pt>
              <c:pt idx="4">
                <c:v>28</c:v>
              </c:pt>
              <c:pt idx="5">
                <c:v>40</c:v>
              </c:pt>
              <c:pt idx="6">
                <c:v>42</c:v>
              </c:pt>
              <c:pt idx="7">
                <c:v>55</c:v>
              </c:pt>
              <c:pt idx="8">
                <c:v>52</c:v>
              </c:pt>
              <c:pt idx="9">
                <c:v>65</c:v>
              </c:pt>
            </c:numLit>
          </c:yVal>
        </c:ser>
        <c:axId val="1"/>
        <c:axId val="2"/>
      </c:scatterChart>
      <c:valAx>
        <c:axId val="1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2"/>
        <c:crosses val="autoZero"/>
        <c:crossBetween val="between"/>
      </c:val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plotVisOnly val="1"/>
    <c:dispBlanksAs val="gap"/>
  </c:chart>
</c:chartSpace>
</file>

<file path=ppt/slides/charts/chart26.xml><?xml version="1.0" encoding="utf-8"?>
<c:chartSpace xmlns:c="http://schemas.openxmlformats.org/drawingml/2006/chart"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trendline=poly:3</a:t>
            </a:r>
          </a:p>
        </c:rich>
      </c:tx>
      <c:overlay val="0"/>
    </c:title>
    <c:plotArea>
      <c:layout/>
      <c:scatterChart>
        <c:scatterStyle val="marker"/>
        <c:varyColors val="0"/>
        <c:ser>
          <c:idx val="0"/>
          <c:order val="0"/>
          <c:tx>
            <c:v>A</c:v>
          </c:tx>
          <c:spPr>
            <a:ln xmlns:a="http://schemas.openxmlformats.org/drawingml/2006/main">
              <a:noFill/>
            </a:ln>
          </c:spPr>
          <c:trendline>
            <c:trendlineType val="poly"/>
            <c:order val="3"/>
          </c:trendline>
          <c:xVal>
            <c:numLit>
              <c:ptCount val="1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</c:numLit>
          </c:xVal>
          <c:yVal>
            <c:numLit>
              <c:ptCount val="10"/>
              <c:pt idx="0">
                <c:v>10</c:v>
              </c:pt>
              <c:pt idx="1">
                <c:v>20</c:v>
              </c:pt>
              <c:pt idx="2">
                <c:v>18</c:v>
              </c:pt>
              <c:pt idx="3">
                <c:v>30</c:v>
              </c:pt>
              <c:pt idx="4">
                <c:v>28</c:v>
              </c:pt>
              <c:pt idx="5">
                <c:v>40</c:v>
              </c:pt>
              <c:pt idx="6">
                <c:v>42</c:v>
              </c:pt>
              <c:pt idx="7">
                <c:v>55</c:v>
              </c:pt>
              <c:pt idx="8">
                <c:v>52</c:v>
              </c:pt>
              <c:pt idx="9">
                <c:v>65</c:v>
              </c:pt>
            </c:numLit>
          </c:yVal>
        </c:ser>
        <c:axId val="1"/>
        <c:axId val="2"/>
      </c:scatterChart>
      <c:valAx>
        <c:axId val="1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2"/>
        <c:crosses val="autoZero"/>
        <c:crossBetween val="between"/>
      </c:val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plotVisOnly val="1"/>
    <c:dispBlanksAs val="gap"/>
  </c:chart>
</c:chartSpace>
</file>

<file path=ppt/slides/charts/chart27.xml><?xml version="1.0" encoding="utf-8"?>
<c:chartSpace xmlns:c="http://schemas.openxmlformats.org/drawingml/2006/chart"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trendline=movingAvg:3</a:t>
            </a:r>
          </a:p>
        </c:rich>
      </c:tx>
      <c:overlay val="0"/>
    </c:title>
    <c:plotArea>
      <c:layout/>
      <c:scatterChart>
        <c:scatterStyle val="marker"/>
        <c:varyColors val="0"/>
        <c:ser>
          <c:idx val="0"/>
          <c:order val="0"/>
          <c:tx>
            <c:v>A</c:v>
          </c:tx>
          <c:spPr>
            <a:ln xmlns:a="http://schemas.openxmlformats.org/drawingml/2006/main">
              <a:noFill/>
            </a:ln>
          </c:spPr>
          <c:trendline>
            <c:trendlineType val="movingAvg"/>
            <c:period val="3"/>
          </c:trendline>
          <c:xVal>
            <c:numLit>
              <c:ptCount val="1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</c:numLit>
          </c:xVal>
          <c:yVal>
            <c:numLit>
              <c:ptCount val="10"/>
              <c:pt idx="0">
                <c:v>10</c:v>
              </c:pt>
              <c:pt idx="1">
                <c:v>20</c:v>
              </c:pt>
              <c:pt idx="2">
                <c:v>18</c:v>
              </c:pt>
              <c:pt idx="3">
                <c:v>30</c:v>
              </c:pt>
              <c:pt idx="4">
                <c:v>28</c:v>
              </c:pt>
              <c:pt idx="5">
                <c:v>40</c:v>
              </c:pt>
              <c:pt idx="6">
                <c:v>42</c:v>
              </c:pt>
              <c:pt idx="7">
                <c:v>55</c:v>
              </c:pt>
              <c:pt idx="8">
                <c:v>52</c:v>
              </c:pt>
              <c:pt idx="9">
                <c:v>65</c:v>
              </c:pt>
            </c:numLit>
          </c:yVal>
        </c:ser>
        <c:axId val="1"/>
        <c:axId val="2"/>
      </c:scatterChart>
      <c:valAx>
        <c:axId val="1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2"/>
        <c:crosses val="autoZero"/>
        <c:crossBetween val="between"/>
      </c:val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plotVisOnly val="1"/>
    <c:dispBlanksAs val="gap"/>
  </c:chart>
</c:chartSpace>
</file>

<file path=ppt/slides/charts/chart28.xml><?xml version="1.0" encoding="utf-8"?>
<c:chartSpace xmlns:c="http://schemas.openxmlformats.org/drawingml/2006/chart"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errbars=stdDev:1</a:t>
            </a:r>
          </a:p>
        </c:rich>
      </c:tx>
      <c:overlay val="0"/>
    </c:title>
    <c:plotArea>
      <c:layout/>
      <c:scatterChart>
        <c:scatterStyle val="marker"/>
        <c:varyColors val="0"/>
        <c:ser>
          <c:idx val="0"/>
          <c:order val="0"/>
          <c:tx>
            <c:v>A</c:v>
          </c:tx>
          <c:spPr>
            <a:ln xmlns:a="http://schemas.openxmlformats.org/drawingml/2006/main">
              <a:noFill/>
            </a:ln>
          </c:spPr>
          <c:errBars>
            <c:errDir val="y"/>
            <c:errBarType val="both"/>
            <c:errValType val="stdDev"/>
            <c:plus>
              <c:numLit>
                <c:formatCode>General</c:formatCode>
                <c:ptCount val="1"/>
                <c:pt idx="0">
                  <c:v>1</c:v>
                </c:pt>
              </c:numLit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</c:errBars>
          <c:xVal>
            <c:numLit>
              <c:ptCount val="1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</c:numLit>
          </c:xVal>
          <c:yVal>
            <c:numLit>
              <c:ptCount val="10"/>
              <c:pt idx="0">
                <c:v>10</c:v>
              </c:pt>
              <c:pt idx="1">
                <c:v>20</c:v>
              </c:pt>
              <c:pt idx="2">
                <c:v>18</c:v>
              </c:pt>
              <c:pt idx="3">
                <c:v>30</c:v>
              </c:pt>
              <c:pt idx="4">
                <c:v>28</c:v>
              </c:pt>
              <c:pt idx="5">
                <c:v>40</c:v>
              </c:pt>
              <c:pt idx="6">
                <c:v>42</c:v>
              </c:pt>
              <c:pt idx="7">
                <c:v>55</c:v>
              </c:pt>
              <c:pt idx="8">
                <c:v>52</c:v>
              </c:pt>
              <c:pt idx="9">
                <c:v>65</c:v>
              </c:pt>
            </c:numLit>
          </c:yVal>
        </c:ser>
        <c:axId val="1"/>
        <c:axId val="2"/>
      </c:scatterChart>
      <c:valAx>
        <c:axId val="1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2"/>
        <c:crosses val="autoZero"/>
        <c:crossBetween val="between"/>
      </c:val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plotVisOnly val="1"/>
    <c:dispBlanksAs val="gap"/>
  </c:chart>
</c:chartSpace>
</file>

<file path=ppt/slides/charts/chart29.xml><?xml version="1.0" encoding="utf-8"?>
<c:chartSpace xmlns:c="http://schemas.openxmlformats.org/drawingml/2006/chart"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preset=minimal</a:t>
            </a:r>
          </a:p>
        </c:rich>
      </c:tx>
      <c:overlay val="0"/>
    </c:title>
    <c:plotArea>
      <c:layout/>
      <c:scatterChart>
        <c:scatterStyle val="smoothMarker"/>
        <c:varyColors val="0"/>
        <c:ser>
          <c:idx val="0"/>
          <c:order val="0"/>
          <c:tx>
            <c:v>A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 w="25400">
              <a:solidFill>
                <a:srgbClr val="4472C4"/>
              </a:solidFill>
            </a:ln>
          </c:spPr>
          <c:xVal>
            <c:numLit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xVal>
          <c:yVal>
            <c:numLit>
              <c:ptCount val="8"/>
              <c:pt idx="0">
                <c:v>10</c:v>
              </c:pt>
              <c:pt idx="1">
                <c:v>20</c:v>
              </c:pt>
              <c:pt idx="2">
                <c:v>18</c:v>
              </c:pt>
              <c:pt idx="3">
                <c:v>30</c:v>
              </c:pt>
              <c:pt idx="4">
                <c:v>28</c:v>
              </c:pt>
              <c:pt idx="5">
                <c:v>40</c:v>
              </c:pt>
              <c:pt idx="6">
                <c:v>42</c:v>
              </c:pt>
              <c:pt idx="7">
                <c:v>55</c:v>
              </c:pt>
            </c:numLit>
          </c:yVal>
        </c:ser>
        <c:ser>
          <c:idx val="1"/>
          <c:order val="1"/>
          <c:tx>
            <c:v>B</c:v>
          </c:tx>
          <c:spPr>
            <a:solidFill xmlns:a="http://schemas.openxmlformats.org/drawingml/2006/main">
              <a:srgbClr val="ED7D31"/>
            </a:solidFill>
            <a:ln xmlns:a="http://schemas.openxmlformats.org/drawingml/2006/main" w="25400">
              <a:solidFill>
                <a:srgbClr val="ED7D31"/>
              </a:solidFill>
            </a:ln>
          </c:spPr>
          <c:xVal>
            <c:numLit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xVal>
          <c:yVal>
            <c:numLit>
              <c:ptCount val="8"/>
              <c:pt idx="0">
                <c:v>5</c:v>
              </c:pt>
              <c:pt idx="1">
                <c:v>12</c:v>
              </c:pt>
              <c:pt idx="2">
                <c:v>15</c:v>
              </c:pt>
              <c:pt idx="3">
                <c:v>22</c:v>
              </c:pt>
              <c:pt idx="4">
                <c:v>25</c:v>
              </c:pt>
              <c:pt idx="5">
                <c:v>30</c:v>
              </c:pt>
              <c:pt idx="6">
                <c:v>35</c:v>
              </c:pt>
              <c:pt idx="7">
                <c:v>40</c:v>
              </c:pt>
            </c:numLit>
          </c:yVal>
        </c:ser>
        <c:axId val="1"/>
        <c:axId val="2"/>
      </c:scatterChart>
      <c:valAx>
        <c:axId val="1"/>
        <c:scaling>
          <c:orientation val="minMax"/>
        </c:scaling>
        <c:delete val="0"/>
        <c:axPos val="b"/>
        <c:majorGridlines>
          <c:spPr>
            <a:ln xmlns:a="http://schemas.openxmlformats.org/drawingml/2006/main" w="3810">
              <a:solidFill>
                <a:srgbClr val="E0E0E0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08080"/>
                </a:solidFill>
              </a:defRPr>
            </a:pPr>
          </a:p>
        </c:txPr>
        <c:crossAx val="2"/>
        <c:crosses val="autoZero"/>
        <c:crossBetween val="between"/>
      </c:val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08080"/>
                </a:solidFill>
              </a:defRPr>
            </a:pPr>
          </a:p>
        </c:txPr>
        <c:crossAx val="1"/>
        <c:crosses val="autoZero"/>
        <c:crossBetween val="between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/>
        <a:lstStyle xmlns:a="http://schemas.openxmlformats.org/drawingml/2006/main"/>
        <a:p xmlns:a="http://schemas.openxmlformats.org/drawingml/2006/main">
          <a:pPr>
            <a:defRPr sz="900">
              <a:solidFill>
                <a:srgbClr val="808080"/>
              </a:solidFill>
            </a:defRPr>
          </a:pPr>
        </a:p>
      </c:txPr>
    </c:legend>
    <c:plotVisOnly val="1"/>
    <c:dispBlanksAs val="gap"/>
  </c:chart>
  <c:spPr>
    <a:noFill xmlns:a="http://schemas.openxmlformats.org/drawingml/2006/main"/>
  </c:spPr>
</c:chartSpace>
</file>

<file path=ppt/slides/charts/chart30.xml><?xml version="1.0" encoding="utf-8"?>
<c:chartSpace xmlns:c="http://schemas.openxmlformats.org/drawingml/2006/chart">
  <c:roundedCorners val="1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 b="1"/>
            </a:pPr>
            <a:r>
              <a:rPr lang="en-US" sz="1600" b="1">
                <a:solidFill>
                  <a:srgbClr val="FFFFFF"/>
                </a:solidFill>
              </a:rPr>
              <a:t>preset=dark</a:t>
            </a:r>
          </a:p>
        </c:rich>
      </c:tx>
      <c:overlay val="0"/>
    </c:title>
    <c:plotArea>
      <c:layout/>
      <c:scatterChart>
        <c:scatterStyle val="smoothMarker"/>
        <c:varyColors val="0"/>
        <c:ser>
          <c:idx val="0"/>
          <c:order val="0"/>
          <c:tx>
            <c:v>A</c:v>
          </c:tx>
          <c:spPr>
            <a:solidFill xmlns:a="http://schemas.openxmlformats.org/drawingml/2006/main">
              <a:srgbClr val="5B9BD5"/>
            </a:solidFill>
            <a:ln xmlns:a="http://schemas.openxmlformats.org/drawingml/2006/main" w="25400">
              <a:solidFill>
                <a:srgbClr val="5B9BD5"/>
              </a:solidFill>
            </a:ln>
          </c:spPr>
          <c:xVal>
            <c:numLit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xVal>
          <c:yVal>
            <c:numLit>
              <c:ptCount val="8"/>
              <c:pt idx="0">
                <c:v>10</c:v>
              </c:pt>
              <c:pt idx="1">
                <c:v>20</c:v>
              </c:pt>
              <c:pt idx="2">
                <c:v>18</c:v>
              </c:pt>
              <c:pt idx="3">
                <c:v>30</c:v>
              </c:pt>
              <c:pt idx="4">
                <c:v>28</c:v>
              </c:pt>
              <c:pt idx="5">
                <c:v>40</c:v>
              </c:pt>
              <c:pt idx="6">
                <c:v>42</c:v>
              </c:pt>
              <c:pt idx="7">
                <c:v>55</c:v>
              </c:pt>
            </c:numLit>
          </c:yVal>
        </c:ser>
        <c:ser>
          <c:idx val="1"/>
          <c:order val="1"/>
          <c:tx>
            <c:v>B</c:v>
          </c:tx>
          <c:spPr>
            <a:solidFill xmlns:a="http://schemas.openxmlformats.org/drawingml/2006/main">
              <a:srgbClr val="FF6B6B"/>
            </a:solidFill>
            <a:ln xmlns:a="http://schemas.openxmlformats.org/drawingml/2006/main" w="25400">
              <a:solidFill>
                <a:srgbClr val="FF6B6B"/>
              </a:solidFill>
            </a:ln>
          </c:spPr>
          <c:xVal>
            <c:numLit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xVal>
          <c:yVal>
            <c:numLit>
              <c:ptCount val="8"/>
              <c:pt idx="0">
                <c:v>5</c:v>
              </c:pt>
              <c:pt idx="1">
                <c:v>12</c:v>
              </c:pt>
              <c:pt idx="2">
                <c:v>15</c:v>
              </c:pt>
              <c:pt idx="3">
                <c:v>22</c:v>
              </c:pt>
              <c:pt idx="4">
                <c:v>25</c:v>
              </c:pt>
              <c:pt idx="5">
                <c:v>30</c:v>
              </c:pt>
              <c:pt idx="6">
                <c:v>35</c:v>
              </c:pt>
              <c:pt idx="7">
                <c:v>40</c:v>
              </c:pt>
            </c:numLit>
          </c:yVal>
        </c:ser>
        <c:axId val="1"/>
        <c:axId val="2"/>
      </c:scatterChart>
      <c:valAx>
        <c:axId val="1"/>
        <c:scaling>
          <c:orientation val="minMax"/>
        </c:scaling>
        <c:delete val="0"/>
        <c:axPos val="b"/>
        <c:majorGridlines>
          <c:spPr>
            <a:ln xmlns:a="http://schemas.openxmlformats.org/drawingml/2006/main" w="3810">
              <a:solidFill>
                <a:srgbClr val="404040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6350">
            <a:solidFill>
              <a:srgbClr val="555555"/>
            </a:solidFill>
          </a:ln>
        </c:spPr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AAAAAA"/>
                </a:solidFill>
              </a:defRPr>
            </a:pPr>
          </a:p>
        </c:txPr>
        <c:crossAx val="2"/>
        <c:crosses val="autoZero"/>
        <c:crossBetween val="between"/>
      </c:val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spPr>
          <a:ln xmlns:a="http://schemas.openxmlformats.org/drawingml/2006/main" w="6350">
            <a:solidFill>
              <a:srgbClr val="555555"/>
            </a:solidFill>
          </a:ln>
        </c:spPr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AAAAAA"/>
                </a:solidFill>
              </a:defRPr>
            </a:pPr>
          </a:p>
        </c:txPr>
        <c:crossAx val="1"/>
        <c:crosses val="autoZero"/>
        <c:crossBetween val="between"/>
      </c:valAx>
      <c:spPr>
        <a:solidFill xmlns:a="http://schemas.openxmlformats.org/drawingml/2006/main">
          <a:srgbClr val="2D2D2D"/>
        </a:solidFill>
      </c:spPr>
    </c:plotArea>
    <c:legend>
      <c:legendPos val="b"/>
      <c:overlay val="0"/>
      <c:txPr>
        <a:bodyPr xmlns:a="http://schemas.openxmlformats.org/drawingml/2006/main"/>
        <a:lstStyle xmlns:a="http://schemas.openxmlformats.org/drawingml/2006/main"/>
        <a:p xmlns:a="http://schemas.openxmlformats.org/drawingml/2006/main">
          <a:pPr>
            <a:defRPr sz="900">
              <a:solidFill>
                <a:srgbClr val="CCCCCC"/>
              </a:solidFill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1E1E1E"/>
    </a:solidFill>
    <a:ln xmlns:a="http://schemas.openxmlformats.org/drawingml/2006/main" w="6350">
      <a:solidFill>
        <a:srgbClr val="444444"/>
      </a:solidFill>
    </a:ln>
  </c:spPr>
</c:chartSpace>
</file>

<file path=ppt/slides/charts/chart31.xml><?xml version="1.0" encoding="utf-8"?>
<c:chartSpace xmlns:c="http://schemas.openxmlformats.org/drawingml/2006/chart"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>
                <a:solidFill>
                  <a:srgbClr val="44546A"/>
                </a:solidFill>
              </a:rPr>
              <a:t>preset=corporate</a:t>
            </a:r>
          </a:p>
        </c:rich>
      </c:tx>
      <c:overlay val="0"/>
    </c:title>
    <c:plotArea>
      <c:layout/>
      <c:scatterChart>
        <c:scatterStyle val="smoothMarker"/>
        <c:varyColors val="0"/>
        <c:ser>
          <c:idx val="0"/>
          <c:order val="0"/>
          <c:tx>
            <c:v>A</c:v>
          </c:tx>
          <c:spPr>
            <a:solidFill xmlns:a="http://schemas.openxmlformats.org/drawingml/2006/main">
              <a:srgbClr val="2E75B6"/>
            </a:solidFill>
            <a:ln xmlns:a="http://schemas.openxmlformats.org/drawingml/2006/main" w="25400">
              <a:solidFill>
                <a:srgbClr val="2E75B6"/>
              </a:solidFill>
            </a:ln>
          </c:spPr>
          <c:xVal>
            <c:numLit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xVal>
          <c:yVal>
            <c:numLit>
              <c:ptCount val="8"/>
              <c:pt idx="0">
                <c:v>10</c:v>
              </c:pt>
              <c:pt idx="1">
                <c:v>20</c:v>
              </c:pt>
              <c:pt idx="2">
                <c:v>18</c:v>
              </c:pt>
              <c:pt idx="3">
                <c:v>30</c:v>
              </c:pt>
              <c:pt idx="4">
                <c:v>28</c:v>
              </c:pt>
              <c:pt idx="5">
                <c:v>40</c:v>
              </c:pt>
              <c:pt idx="6">
                <c:v>42</c:v>
              </c:pt>
              <c:pt idx="7">
                <c:v>55</c:v>
              </c:pt>
            </c:numLit>
          </c:yVal>
        </c:ser>
        <c:ser>
          <c:idx val="1"/>
          <c:order val="1"/>
          <c:tx>
            <c:v>B</c:v>
          </c:tx>
          <c:spPr>
            <a:solidFill xmlns:a="http://schemas.openxmlformats.org/drawingml/2006/main">
              <a:srgbClr val="44546A"/>
            </a:solidFill>
            <a:ln xmlns:a="http://schemas.openxmlformats.org/drawingml/2006/main" w="25400">
              <a:solidFill>
                <a:srgbClr val="44546A"/>
              </a:solidFill>
            </a:ln>
          </c:spPr>
          <c:xVal>
            <c:numLit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xVal>
          <c:yVal>
            <c:numLit>
              <c:ptCount val="8"/>
              <c:pt idx="0">
                <c:v>5</c:v>
              </c:pt>
              <c:pt idx="1">
                <c:v>12</c:v>
              </c:pt>
              <c:pt idx="2">
                <c:v>15</c:v>
              </c:pt>
              <c:pt idx="3">
                <c:v>22</c:v>
              </c:pt>
              <c:pt idx="4">
                <c:v>25</c:v>
              </c:pt>
              <c:pt idx="5">
                <c:v>30</c:v>
              </c:pt>
              <c:pt idx="6">
                <c:v>35</c:v>
              </c:pt>
              <c:pt idx="7">
                <c:v>40</c:v>
              </c:pt>
            </c:numLit>
          </c:yVal>
        </c:ser>
        <c:axId val="1"/>
        <c:axId val="2"/>
      </c:scatterChart>
      <c:valAx>
        <c:axId val="1"/>
        <c:scaling>
          <c:orientation val="minMax"/>
        </c:scaling>
        <c:delete val="0"/>
        <c:axPos val="b"/>
        <c:majorGridlines>
          <c:spPr>
            <a:ln xmlns:a="http://schemas.openxmlformats.org/drawingml/2006/main" w="5080">
              <a:solidFill>
                <a:srgbClr val="D6DCE4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 xmlns:a="http://schemas.openxmlformats.org/drawingml/2006/main" w="6350">
            <a:solidFill>
              <a:srgbClr val="8B949E"/>
            </a:solidFill>
          </a:ln>
        </c:spPr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44546A"/>
                </a:solidFill>
              </a:defRPr>
            </a:pPr>
          </a:p>
        </c:txPr>
        <c:crossAx val="2"/>
        <c:crosses val="autoZero"/>
        <c:crossBetween val="between"/>
      </c:val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spPr>
          <a:ln xmlns:a="http://schemas.openxmlformats.org/drawingml/2006/main" w="6350">
            <a:solidFill>
              <a:srgbClr val="8B949E"/>
            </a:solidFill>
          </a:ln>
        </c:spPr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44546A"/>
                </a:solidFill>
              </a:defRPr>
            </a:pPr>
          </a:p>
        </c:txPr>
        <c:crossAx val="1"/>
        <c:crosses val="autoZero"/>
        <c:crossBetween val="between"/>
      </c:valAx>
      <c:spPr>
        <a:noFill xmlns:a="http://schemas.openxmlformats.org/drawingml/2006/main"/>
        <a:ln xmlns:a="http://schemas.openxmlformats.org/drawingml/2006/main" w="3810">
          <a:solidFill>
            <a:srgbClr val="D6DCE4"/>
          </a:solidFill>
        </a:ln>
      </c:spPr>
    </c:plotArea>
    <c:legend>
      <c:legendPos val="r"/>
      <c:overlay val="0"/>
      <c:txPr>
        <a:bodyPr xmlns:a="http://schemas.openxmlformats.org/drawingml/2006/main"/>
        <a:lstStyle xmlns:a="http://schemas.openxmlformats.org/drawingml/2006/main"/>
        <a:p xmlns:a="http://schemas.openxmlformats.org/drawingml/2006/main">
          <a:pPr>
            <a:defRPr sz="1000">
              <a:solidFill>
                <a:srgbClr val="44546A"/>
              </a:solidFill>
            </a:defRPr>
          </a:pPr>
        </a:p>
      </c:txPr>
    </c:legend>
    <c:plotVisOnly val="1"/>
    <c:dispBlanksAs val="gap"/>
  </c:chart>
  <c:spPr>
    <a:noFill xmlns:a="http://schemas.openxmlformats.org/drawingml/2006/main"/>
  </c:spPr>
</c:chartSpace>
</file>

<file path=ppt/slides/charts/chart32.xml><?xml version="1.0" encoding="utf-8"?>
<c:chartSpace xmlns:c="http://schemas.openxmlformats.org/drawingml/2006/chart"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chart-series Set per series</a:t>
            </a:r>
          </a:p>
        </c:rich>
      </c:tx>
      <c:overlay val="0"/>
    </c:title>
    <c:plotArea>
      <c:layout/>
      <c:scatterChart>
        <c:scatterStyle val="lineMarker"/>
        <c:varyColors val="0"/>
        <c:ser>
          <c:idx val="0"/>
          <c:order val="0"/>
          <c:tx>
            <c:v>Alpha</c:v>
          </c:tx>
          <c:spPr>
            <a:solidFill xmlns:a="http://schemas.openxmlformats.org/drawingml/2006/main">
              <a:srgbClr val="C00000"/>
            </a:solidFill>
            <a:ln xmlns:a="http://schemas.openxmlformats.org/drawingml/2006/main" w="31750">
              <a:solidFill>
                <a:srgbClr val="C00000"/>
              </a:solidFill>
              <a:prstDash val="solid"/>
            </a:ln>
          </c:spPr>
          <c:marker>
            <c:symbol val="circle"/>
            <c:size val="10"/>
          </c:marker>
          <c:xVal>
            <c:numLit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xVal>
          <c:yVal>
            <c:numLit>
              <c:ptCount val="8"/>
              <c:pt idx="0">
                <c:v>10</c:v>
              </c:pt>
              <c:pt idx="1">
                <c:v>20</c:v>
              </c:pt>
              <c:pt idx="2">
                <c:v>18</c:v>
              </c:pt>
              <c:pt idx="3">
                <c:v>30</c:v>
              </c:pt>
              <c:pt idx="4">
                <c:v>28</c:v>
              </c:pt>
              <c:pt idx="5">
                <c:v>40</c:v>
              </c:pt>
              <c:pt idx="6">
                <c:v>42</c:v>
              </c:pt>
              <c:pt idx="7">
                <c:v>55</c:v>
              </c:pt>
            </c:numLit>
          </c:yVal>
          <c:smooth val="1"/>
        </c:ser>
        <c:ser>
          <c:idx val="1"/>
          <c:order val="1"/>
          <c:tx>
            <c:v>Beta</c:v>
          </c:tx>
          <c:spPr>
            <a:solidFill xmlns:a="http://schemas.openxmlformats.org/drawingml/2006/main">
              <a:srgbClr val="2E75B6"/>
            </a:solidFill>
            <a:ln xmlns:a="http://schemas.openxmlformats.org/drawingml/2006/main" w="19050">
              <a:solidFill>
                <a:srgbClr val="2E75B6"/>
              </a:solidFill>
              <a:prstDash val="sysDash"/>
            </a:ln>
          </c:spPr>
          <c:marker>
            <c:symbol val="diamond"/>
            <c:size val="8"/>
          </c:marker>
          <c:xVal>
            <c:numLit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xVal>
          <c:yVal>
            <c:numLit>
              <c:ptCount val="8"/>
              <c:pt idx="0">
                <c:v>5</c:v>
              </c:pt>
              <c:pt idx="1">
                <c:v>12</c:v>
              </c:pt>
              <c:pt idx="2">
                <c:v>15</c:v>
              </c:pt>
              <c:pt idx="3">
                <c:v>22</c:v>
              </c:pt>
              <c:pt idx="4">
                <c:v>25</c:v>
              </c:pt>
              <c:pt idx="5">
                <c:v>30</c:v>
              </c:pt>
              <c:pt idx="6">
                <c:v>35</c:v>
              </c:pt>
              <c:pt idx="7">
                <c:v>40</c:v>
              </c:pt>
            </c:numLit>
          </c:yVal>
        </c:ser>
        <c:axId val="1"/>
        <c:axId val="2"/>
      </c:scatterChart>
      <c:valAx>
        <c:axId val="1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2"/>
        <c:crosses val="autoZero"/>
        <c:crossBetween val="between"/>
      </c:val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charts/chart33.xml><?xml version="1.0" encoding="utf-8"?>
<c:chartSpace xmlns:c="http://schemas.openxmlformats.org/drawingml/2006/chart"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series1= + series2=</a:t>
            </a:r>
          </a:p>
        </c:rich>
      </c:tx>
      <c:overlay val="0"/>
    </c:title>
    <c:plotArea>
      <c:layout/>
      <c:scatterChart>
        <c:scatterStyle val="lineMarker"/>
        <c:varyColors val="0"/>
        <c:ser>
          <c:idx val="0"/>
          <c:order val="0"/>
          <c:tx>
            <c:v>Alpha</c:v>
          </c:tx>
          <c:xVal>
            <c:numLit>
              <c:ptCount val="4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</c:numLit>
          </c:xVal>
          <c:yVal>
            <c:numLit>
              <c:ptCount val="4"/>
              <c:pt idx="0">
                <c:v>10</c:v>
              </c:pt>
              <c:pt idx="1">
                <c:v>25</c:v>
              </c:pt>
              <c:pt idx="2">
                <c:v>18</c:v>
              </c:pt>
              <c:pt idx="3">
                <c:v>40</c:v>
              </c:pt>
            </c:numLit>
          </c:yVal>
        </c:ser>
        <c:ser>
          <c:idx val="1"/>
          <c:order val="1"/>
          <c:tx>
            <c:v>Beta</c:v>
          </c:tx>
          <c:xVal>
            <c:numLit>
              <c:ptCount val="4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</c:numLit>
          </c:xVal>
          <c:yVal>
            <c:numLit>
              <c:ptCount val="4"/>
              <c:pt idx="0">
                <c:v>5</c:v>
              </c:pt>
              <c:pt idx="1">
                <c:v>15</c:v>
              </c:pt>
              <c:pt idx="2">
                <c:v>12</c:v>
              </c:pt>
              <c:pt idx="3">
                <c:v>30</c:v>
              </c:pt>
            </c:numLit>
          </c:yVal>
        </c:ser>
        <c:axId val="1"/>
        <c:axId val="2"/>
      </c:scatterChart>
      <c:valAx>
        <c:axId val="1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2"/>
        <c:crosses val="autoZero"/>
        <c:crossBetween val="between"/>
      </c:val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charts/chart34.xml><?xml version="1.0" encoding="utf-8"?>
<c:chartSpace xmlns:c="http://schemas.openxmlformats.org/drawingml/2006/chart"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three named series</a:t>
            </a:r>
          </a:p>
        </c:rich>
      </c:tx>
      <c:overlay val="0"/>
    </c:title>
    <c:plotArea>
      <c:layout/>
      <c:scatterChart>
        <c:scatterStyle val="marker"/>
        <c:varyColors val="0"/>
        <c:ser>
          <c:idx val="0"/>
          <c:order val="0"/>
          <c:tx>
            <c:v>Group A</c:v>
          </c:tx>
          <c:spPr>
            <a:ln xmlns:a="http://schemas.openxmlformats.org/drawingml/2006/main">
              <a:noFill/>
            </a:ln>
          </c:spPr>
          <c:xVal>
            <c:numLit>
              <c:ptCount val="3"/>
              <c:pt idx="0">
                <c:v>1</c:v>
              </c:pt>
              <c:pt idx="1">
                <c:v>2</c:v>
              </c:pt>
              <c:pt idx="2">
                <c:v>3</c:v>
              </c:pt>
            </c:numLit>
          </c:xVal>
          <c:yVal>
            <c:numLit>
              <c:ptCount val="3"/>
              <c:pt idx="0">
                <c:v>8</c:v>
              </c:pt>
              <c:pt idx="1">
                <c:v>20</c:v>
              </c:pt>
              <c:pt idx="2">
                <c:v>15</c:v>
              </c:pt>
            </c:numLit>
          </c:yVal>
        </c:ser>
        <c:ser>
          <c:idx val="1"/>
          <c:order val="1"/>
          <c:tx>
            <c:v>Group B</c:v>
          </c:tx>
          <c:spPr>
            <a:ln xmlns:a="http://schemas.openxmlformats.org/drawingml/2006/main">
              <a:noFill/>
            </a:ln>
          </c:spPr>
          <c:xVal>
            <c:numLit>
              <c:ptCount val="3"/>
              <c:pt idx="0">
                <c:v>1</c:v>
              </c:pt>
              <c:pt idx="1">
                <c:v>2</c:v>
              </c:pt>
              <c:pt idx="2">
                <c:v>3</c:v>
              </c:pt>
            </c:numLit>
          </c:xVal>
          <c:yVal>
            <c:numLit>
              <c:ptCount val="3"/>
              <c:pt idx="0">
                <c:v>4</c:v>
              </c:pt>
              <c:pt idx="1">
                <c:v>12</c:v>
              </c:pt>
              <c:pt idx="2">
                <c:v>10</c:v>
              </c:pt>
            </c:numLit>
          </c:yVal>
        </c:ser>
        <c:ser>
          <c:idx val="2"/>
          <c:order val="2"/>
          <c:tx>
            <c:v>Group C</c:v>
          </c:tx>
          <c:spPr>
            <a:ln xmlns:a="http://schemas.openxmlformats.org/drawingml/2006/main">
              <a:noFill/>
            </a:ln>
          </c:spPr>
          <c:xVal>
            <c:numLit>
              <c:ptCount val="3"/>
              <c:pt idx="0">
                <c:v>1</c:v>
              </c:pt>
              <c:pt idx="1">
                <c:v>2</c:v>
              </c:pt>
              <c:pt idx="2">
                <c:v>3</c:v>
              </c:pt>
            </c:numLit>
          </c:xVal>
          <c:yVal>
            <c:numLit>
              <c:ptCount val="3"/>
              <c:pt idx="0">
                <c:v>12</c:v>
              </c:pt>
              <c:pt idx="1">
                <c:v>28</c:v>
              </c:pt>
              <c:pt idx="2">
                <c:v>22</c:v>
              </c:pt>
            </c:numLit>
          </c:yVal>
        </c:ser>
        <c:axId val="1"/>
        <c:axId val="2"/>
      </c:scatterChart>
      <c:valAx>
        <c:axId val="1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2"/>
        <c:crosses val="autoZero"/>
        <c:crossBetween val="between"/>
      </c:val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charts/chart35.xml><?xml version="1.0" encoding="utf-8"?>
<c:chartSpace xmlns:c="http://schemas.openxmlformats.org/drawingml/2006/chart"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series1 with colors</a:t>
            </a:r>
          </a:p>
        </c:rich>
      </c:tx>
      <c:overlay val="0"/>
    </c:title>
    <c:plotArea>
      <c:layout/>
      <c:scatterChart>
        <c:scatterStyle val="smoothMarker"/>
        <c:varyColors val="0"/>
        <c:ser>
          <c:idx val="0"/>
          <c:order val="0"/>
          <c:tx>
            <c:v>Rev</c:v>
          </c:tx>
          <c:spPr>
            <a:solidFill xmlns:a="http://schemas.openxmlformats.org/drawingml/2006/main">
              <a:srgbClr val="4472C4"/>
            </a:solidFill>
          </c:spPr>
          <c:xVal>
            <c:numLit>
              <c:ptCount val="4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</c:numLit>
          </c:xVal>
          <c:yVal>
            <c:numLit>
              <c:ptCount val="4"/>
              <c:pt idx="0">
                <c:v>30</c:v>
              </c:pt>
              <c:pt idx="1">
                <c:v>45</c:v>
              </c:pt>
              <c:pt idx="2">
                <c:v>55</c:v>
              </c:pt>
              <c:pt idx="3">
                <c:v>70</c:v>
              </c:pt>
            </c:numLit>
          </c:yVal>
        </c:ser>
        <c:ser>
          <c:idx val="1"/>
          <c:order val="1"/>
          <c:tx>
            <c:v>Cost</c:v>
          </c:tx>
          <c:spPr>
            <a:solidFill xmlns:a="http://schemas.openxmlformats.org/drawingml/2006/main">
              <a:srgbClr val="E63946"/>
            </a:solidFill>
          </c:spPr>
          <c:xVal>
            <c:numLit>
              <c:ptCount val="4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</c:numLit>
          </c:xVal>
          <c:yVal>
            <c:numLit>
              <c:ptCount val="4"/>
              <c:pt idx="0">
                <c:v>20</c:v>
              </c:pt>
              <c:pt idx="1">
                <c:v>30</c:v>
              </c:pt>
              <c:pt idx="2">
                <c:v>35</c:v>
              </c:pt>
              <c:pt idx="3">
                <c:v>42</c:v>
              </c:pt>
            </c:numLit>
          </c:yVal>
        </c:ser>
        <c:axId val="1"/>
        <c:axId val="2"/>
      </c:scatterChart>
      <c:valAx>
        <c:axId val="1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2"/>
        <c:crosses val="autoZero"/>
        <c:crossBetween val="between"/>
      </c:val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charts/chart36.xml><?xml version="1.0" encoding="utf-8"?>
<c:chartSpace xmlns:c="http://schemas.openxmlformats.org/drawingml/2006/chart"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series1.* per-series naming + colors=</a:t>
            </a:r>
          </a:p>
        </c:rich>
      </c:tx>
      <c:overlay val="0"/>
    </c:title>
    <c:plotArea>
      <c:layout/>
      <c:scatterChart>
        <c:scatterStyle val="marker"/>
        <c:varyColors val="0"/>
        <c:ser>
          <c:idx val="0"/>
          <c:order val="0"/>
          <c:tx>
            <c:v>Alpha</c:v>
          </c:tx>
          <c:spPr>
            <a:solidFill xmlns:a="http://schemas.openxmlformats.org/drawingml/2006/main">
              <a:srgbClr val="4472C4"/>
            </a:solidFill>
          </c:spPr>
          <c:xVal>
            <c:numLit>
              <c:ptCount val="4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</c:numLit>
          </c:xVal>
          <c:yVal>
            <c:numLit>
              <c:ptCount val="4"/>
              <c:pt idx="0">
                <c:v>10</c:v>
              </c:pt>
              <c:pt idx="1">
                <c:v>25</c:v>
              </c:pt>
              <c:pt idx="2">
                <c:v>18</c:v>
              </c:pt>
              <c:pt idx="3">
                <c:v>40</c:v>
              </c:pt>
            </c:numLit>
          </c:yVal>
        </c:ser>
        <c:ser>
          <c:idx val="1"/>
          <c:order val="1"/>
          <c:tx>
            <c:v>Beta</c:v>
          </c:tx>
          <c:spPr>
            <a:solidFill xmlns:a="http://schemas.openxmlformats.org/drawingml/2006/main">
              <a:srgbClr val="E63946"/>
            </a:solidFill>
          </c:spPr>
          <c:xVal>
            <c:numLit>
              <c:ptCount val="4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</c:numLit>
          </c:xVal>
          <c:yVal>
            <c:numLit>
              <c:ptCount val="4"/>
              <c:pt idx="0">
                <c:v>5</c:v>
              </c:pt>
              <c:pt idx="1">
                <c:v>15</c:v>
              </c:pt>
              <c:pt idx="2">
                <c:v>12</c:v>
              </c:pt>
              <c:pt idx="3">
                <c:v>30</c:v>
              </c:pt>
            </c:numLit>
          </c:yVal>
        </c:ser>
        <c:axId val="1"/>
        <c:axId val="2"/>
      </c:scatterChart>
      <c:valAx>
        <c:axId val="1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2"/>
        <c:crosses val="autoZero"/>
        <c:crossBetween val="between"/>
      </c:val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457200" y="274320"/>
            <a:ext cx="1124712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2400" b="1"/>
              <a:t>scatterstyle — line / lineMarker / marker / smooth / smoothMarker</a:t>
            </a:r>
          </a:p>
        </p:txBody>
      </p:sp>
      <p:graphicFrame>
        <p:nvGraphicFramePr>
          <p:cNvPr id="100001" name="scatterstyle=line"/>
          <p:cNvGraphicFramePr/>
          <p:nvPr/>
        </p:nvGraphicFramePr>
        <p:xfrm>
          <a:off xmlns:a="http://schemas.openxmlformats.org/drawingml/2006/main" x="274320" y="960120"/>
          <a:ext xmlns:a="http://schemas.openxmlformats.org/drawingml/2006/main" cx="5577840" cy="2743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2185443a8714f21"/>
          </a:graphicData>
        </a:graphic>
      </p:graphicFrame>
      <p:graphicFrame>
        <p:nvGraphicFramePr>
          <p:cNvPr id="100002" name="scatterstyle=lineMarker"/>
          <p:cNvGraphicFramePr/>
          <p:nvPr/>
        </p:nvGraphicFramePr>
        <p:xfrm>
          <a:off xmlns:a="http://schemas.openxmlformats.org/drawingml/2006/main" x="6355080" y="960120"/>
          <a:ext xmlns:a="http://schemas.openxmlformats.org/drawingml/2006/main" cx="5577840" cy="2743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b3b997aa6044c04"/>
          </a:graphicData>
        </a:graphic>
      </p:graphicFrame>
      <p:graphicFrame>
        <p:nvGraphicFramePr>
          <p:cNvPr id="100003" name="scatterstyle=marker"/>
          <p:cNvGraphicFramePr/>
          <p:nvPr/>
        </p:nvGraphicFramePr>
        <p:xfrm>
          <a:off xmlns:a="http://schemas.openxmlformats.org/drawingml/2006/main" x="274320" y="3886200"/>
          <a:ext xmlns:a="http://schemas.openxmlformats.org/drawingml/2006/main" cx="5577840" cy="2743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5a7fe58b9714514"/>
          </a:graphicData>
        </a:graphic>
      </p:graphicFrame>
      <p:graphicFrame>
        <p:nvGraphicFramePr>
          <p:cNvPr id="100004" name="scatterstyle=smoothMarker"/>
          <p:cNvGraphicFramePr/>
          <p:nvPr/>
        </p:nvGraphicFramePr>
        <p:xfrm>
          <a:off xmlns:a="http://schemas.openxmlformats.org/drawingml/2006/main" x="6355080" y="3886200"/>
          <a:ext xmlns:a="http://schemas.openxmlformats.org/drawingml/2006/main" cx="5577840" cy="2743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4d4a0b5f2434d0e"/>
          </a:graphicData>
        </a:graphic>
      </p:graphicFrame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5" name="TextBox 1"/>
          <p:cNvSpPr txBox="1"/>
          <p:nvPr/>
        </p:nvSpPr>
        <p:spPr>
          <a:xfrm xmlns:a="http://schemas.openxmlformats.org/drawingml/2006/main">
            <a:off x="457200" y="274320"/>
            <a:ext cx="1124712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2400" b="1"/>
              <a:t>Markers — symbol / size / color / markercolor</a:t>
            </a:r>
          </a:p>
        </p:txBody>
      </p:sp>
      <p:graphicFrame>
        <p:nvGraphicFramePr>
          <p:cNvPr id="100006" name="circle:10:FF0000"/>
          <p:cNvGraphicFramePr/>
          <p:nvPr/>
        </p:nvGraphicFramePr>
        <p:xfrm>
          <a:off xmlns:a="http://schemas.openxmlformats.org/drawingml/2006/main" x="274320" y="960120"/>
          <a:ext xmlns:a="http://schemas.openxmlformats.org/drawingml/2006/main" cx="5577840" cy="2743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7ca520ae9cf4e52"/>
          </a:graphicData>
        </a:graphic>
      </p:graphicFrame>
      <p:graphicFrame>
        <p:nvGraphicFramePr>
          <p:cNvPr id="100007" name="diamond:12:0070C0"/>
          <p:cNvGraphicFramePr/>
          <p:nvPr/>
        </p:nvGraphicFramePr>
        <p:xfrm>
          <a:off xmlns:a="http://schemas.openxmlformats.org/drawingml/2006/main" x="6355080" y="960120"/>
          <a:ext xmlns:a="http://schemas.openxmlformats.org/drawingml/2006/main" cx="5577840" cy="2743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8319c2bdb14dd2"/>
          </a:graphicData>
        </a:graphic>
      </p:graphicFrame>
      <p:graphicFrame>
        <p:nvGraphicFramePr>
          <p:cNvPr id="100008" name="square:8:70AD47"/>
          <p:cNvGraphicFramePr/>
          <p:nvPr/>
        </p:nvGraphicFramePr>
        <p:xfrm>
          <a:off xmlns:a="http://schemas.openxmlformats.org/drawingml/2006/main" x="274320" y="3886200"/>
          <a:ext xmlns:a="http://schemas.openxmlformats.org/drawingml/2006/main" cx="5577840" cy="2743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8b093b8c3124b1a"/>
          </a:graphicData>
        </a:graphic>
      </p:graphicFrame>
      <p:graphicFrame>
        <p:nvGraphicFramePr>
          <p:cNvPr id="100009" name="markercolor=E63946"/>
          <p:cNvGraphicFramePr/>
          <p:nvPr/>
        </p:nvGraphicFramePr>
        <p:xfrm>
          <a:off xmlns:a="http://schemas.openxmlformats.org/drawingml/2006/main" x="6355080" y="3886200"/>
          <a:ext xmlns:a="http://schemas.openxmlformats.org/drawingml/2006/main" cx="5577840" cy="2743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cdc63ea1cc4618"/>
          </a:graphicData>
        </a:graphic>
      </p:graphicFrame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10" name="TextBox 1"/>
          <p:cNvSpPr txBox="1"/>
          <p:nvPr/>
        </p:nvSpPr>
        <p:spPr>
          <a:xfrm xmlns:a="http://schemas.openxmlformats.org/drawingml/2006/main">
            <a:off x="457200" y="274320"/>
            <a:ext cx="1124712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2400" b="1"/>
              <a:t>Title &amp; legend — title.overlay / legend.overlay</a:t>
            </a:r>
          </a:p>
        </p:txBody>
      </p:sp>
      <p:graphicFrame>
        <p:nvGraphicFramePr>
          <p:cNvPr id="100011" name="Styled title"/>
          <p:cNvGraphicFramePr/>
          <p:nvPr/>
        </p:nvGraphicFramePr>
        <p:xfrm>
          <a:off xmlns:a="http://schemas.openxmlformats.org/drawingml/2006/main" x="274320" y="960120"/>
          <a:ext xmlns:a="http://schemas.openxmlformats.org/drawingml/2006/main" cx="5577840" cy="2743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40088ee00444d0"/>
          </a:graphicData>
        </a:graphic>
      </p:graphicFrame>
      <p:graphicFrame>
        <p:nvGraphicFramePr>
          <p:cNvPr id="100012" name="legend=top + legendFont"/>
          <p:cNvGraphicFramePr/>
          <p:nvPr/>
        </p:nvGraphicFramePr>
        <p:xfrm>
          <a:off xmlns:a="http://schemas.openxmlformats.org/drawingml/2006/main" x="6355080" y="960120"/>
          <a:ext xmlns:a="http://schemas.openxmlformats.org/drawingml/2006/main" cx="5577840" cy="2743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58e29cd4f6a400a"/>
          </a:graphicData>
        </a:graphic>
      </p:graphicFrame>
      <p:graphicFrame>
        <p:nvGraphicFramePr>
          <p:cNvPr id="100013" name="legend.overlay=true"/>
          <p:cNvGraphicFramePr/>
          <p:nvPr/>
        </p:nvGraphicFramePr>
        <p:xfrm>
          <a:off xmlns:a="http://schemas.openxmlformats.org/drawingml/2006/main" x="274320" y="3886200"/>
          <a:ext xmlns:a="http://schemas.openxmlformats.org/drawingml/2006/main" cx="5577840" cy="2743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c0e6050bbe148d3"/>
          </a:graphicData>
        </a:graphic>
      </p:graphicFrame>
      <p:graphicFrame>
        <p:nvGraphicFramePr>
          <p:cNvPr id="100014" name="title.overlay=true"/>
          <p:cNvGraphicFramePr/>
          <p:nvPr/>
        </p:nvGraphicFramePr>
        <p:xfrm>
          <a:off xmlns:a="http://schemas.openxmlformats.org/drawingml/2006/main" x="6355080" y="3886200"/>
          <a:ext xmlns:a="http://schemas.openxmlformats.org/drawingml/2006/main" cx="5577840" cy="2743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fe0cce18bc948c7"/>
          </a:graphicData>
        </a:graphic>
      </p:graphicFrame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15" name="TextBox 1"/>
          <p:cNvSpPr txBox="1"/>
          <p:nvPr/>
        </p:nvSpPr>
        <p:spPr>
          <a:xfrm xmlns:a="http://schemas.openxmlformats.org/drawingml/2006/main">
            <a:off x="457200" y="274320"/>
            <a:ext cx="1124712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2400" b="1"/>
              <a:t>Data labels — flags + labelfont</a:t>
            </a:r>
          </a:p>
        </p:txBody>
      </p:sp>
      <p:graphicFrame>
        <p:nvGraphicFramePr>
          <p:cNvPr id="100016" name="value"/>
          <p:cNvGraphicFramePr/>
          <p:nvPr/>
        </p:nvGraphicFramePr>
        <p:xfrm>
          <a:off xmlns:a="http://schemas.openxmlformats.org/drawingml/2006/main" x="274320" y="960120"/>
          <a:ext xmlns:a="http://schemas.openxmlformats.org/drawingml/2006/main" cx="5577840" cy="2743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175b0696f64ba2"/>
          </a:graphicData>
        </a:graphic>
      </p:graphicFrame>
      <p:graphicFrame>
        <p:nvGraphicFramePr>
          <p:cNvPr id="100017" name="value,series"/>
          <p:cNvGraphicFramePr/>
          <p:nvPr/>
        </p:nvGraphicFramePr>
        <p:xfrm>
          <a:off xmlns:a="http://schemas.openxmlformats.org/drawingml/2006/main" x="6355080" y="960120"/>
          <a:ext xmlns:a="http://schemas.openxmlformats.org/drawingml/2006/main" cx="5577840" cy="2743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0b9072c16c147fd"/>
          </a:graphicData>
        </a:graphic>
      </p:graphicFrame>
      <p:graphicFrame>
        <p:nvGraphicFramePr>
          <p:cNvPr id="100018" name="labelPos=top"/>
          <p:cNvGraphicFramePr/>
          <p:nvPr/>
        </p:nvGraphicFramePr>
        <p:xfrm>
          <a:off xmlns:a="http://schemas.openxmlformats.org/drawingml/2006/main" x="274320" y="3886200"/>
          <a:ext xmlns:a="http://schemas.openxmlformats.org/drawingml/2006/main" cx="5577840" cy="2743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5b58170c3fe41a7"/>
          </a:graphicData>
        </a:graphic>
      </p:graphicFrame>
      <p:graphicFrame>
        <p:nvGraphicFramePr>
          <p:cNvPr id="100019" name="dataLabels=none"/>
          <p:cNvGraphicFramePr/>
          <p:nvPr/>
        </p:nvGraphicFramePr>
        <p:xfrm>
          <a:off xmlns:a="http://schemas.openxmlformats.org/drawingml/2006/main" x="6355080" y="3886200"/>
          <a:ext xmlns:a="http://schemas.openxmlformats.org/drawingml/2006/main" cx="5577840" cy="2743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21f6b1873194eb2"/>
          </a:graphicData>
        </a:graphic>
      </p:graphicFrame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20" name="TextBox 1"/>
          <p:cNvSpPr txBox="1"/>
          <p:nvPr/>
        </p:nvSpPr>
        <p:spPr>
          <a:xfrm xmlns:a="http://schemas.openxmlformats.org/drawingml/2006/main">
            <a:off x="457200" y="274320"/>
            <a:ext cx="1124712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2400" b="1"/>
              <a:t>Axes — min/max, gridlines, ticks, log on both axes</a:t>
            </a:r>
          </a:p>
        </p:txBody>
      </p:sp>
      <p:graphicFrame>
        <p:nvGraphicFramePr>
          <p:cNvPr id="100021" name="min/max + titles"/>
          <p:cNvGraphicFramePr/>
          <p:nvPr/>
        </p:nvGraphicFramePr>
        <p:xfrm>
          <a:off xmlns:a="http://schemas.openxmlformats.org/drawingml/2006/main" x="274320" y="960120"/>
          <a:ext xmlns:a="http://schemas.openxmlformats.org/drawingml/2006/main" cx="5577840" cy="2743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951c6875584bdc"/>
          </a:graphicData>
        </a:graphic>
      </p:graphicFrame>
      <p:graphicFrame>
        <p:nvGraphicFramePr>
          <p:cNvPr id="100022" name="gridlines + minorGridlines"/>
          <p:cNvGraphicFramePr/>
          <p:nvPr/>
        </p:nvGraphicFramePr>
        <p:xfrm>
          <a:off xmlns:a="http://schemas.openxmlformats.org/drawingml/2006/main" x="6355080" y="960120"/>
          <a:ext xmlns:a="http://schemas.openxmlformats.org/drawingml/2006/main" cx="5577840" cy="2743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a2a68740ec94189"/>
          </a:graphicData>
        </a:graphic>
      </p:graphicFrame>
      <p:graphicFrame>
        <p:nvGraphicFramePr>
          <p:cNvPr id="100023" name="labelrotation=-30"/>
          <p:cNvGraphicFramePr/>
          <p:nvPr/>
        </p:nvGraphicFramePr>
        <p:xfrm>
          <a:off xmlns:a="http://schemas.openxmlformats.org/drawingml/2006/main" x="274320" y="3886200"/>
          <a:ext xmlns:a="http://schemas.openxmlformats.org/drawingml/2006/main" cx="5577840" cy="2743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e09463b65ce4c71"/>
          </a:graphicData>
        </a:graphic>
      </p:graphicFrame>
      <p:graphicFrame>
        <p:nvGraphicFramePr>
          <p:cNvPr id="100024" name="logbase=10 (Y)"/>
          <p:cNvGraphicFramePr/>
          <p:nvPr/>
        </p:nvGraphicFramePr>
        <p:xfrm>
          <a:off xmlns:a="http://schemas.openxmlformats.org/drawingml/2006/main" x="6355080" y="3886200"/>
          <a:ext xmlns:a="http://schemas.openxmlformats.org/drawingml/2006/main" cx="5577840" cy="2743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ae1ae7a509340fd"/>
          </a:graphicData>
        </a:graphic>
      </p:graphicFrame>
    </p:spTree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25" name="TextBox 1"/>
          <p:cNvSpPr txBox="1"/>
          <p:nvPr/>
        </p:nvSpPr>
        <p:spPr>
          <a:xfrm xmlns:a="http://schemas.openxmlformats.org/drawingml/2006/main">
            <a:off x="457200" y="274320"/>
            <a:ext cx="1124712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2400" b="1"/>
              <a:t>Series styling — colors, gradient, transparency, outline, shadow</a:t>
            </a:r>
          </a:p>
        </p:txBody>
      </p:sp>
      <p:graphicFrame>
        <p:nvGraphicFramePr>
          <p:cNvPr id="100026" name="colors + seriesoutline"/>
          <p:cNvGraphicFramePr/>
          <p:nvPr/>
        </p:nvGraphicFramePr>
        <p:xfrm>
          <a:off xmlns:a="http://schemas.openxmlformats.org/drawingml/2006/main" x="274320" y="960120"/>
          <a:ext xmlns:a="http://schemas.openxmlformats.org/drawingml/2006/main" cx="5577840" cy="2743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737791a5974df4"/>
          </a:graphicData>
        </a:graphic>
      </p:graphicFrame>
      <p:graphicFrame>
        <p:nvGraphicFramePr>
          <p:cNvPr id="100027" name="gradient + seriesshadow"/>
          <p:cNvGraphicFramePr/>
          <p:nvPr/>
        </p:nvGraphicFramePr>
        <p:xfrm>
          <a:off xmlns:a="http://schemas.openxmlformats.org/drawingml/2006/main" x="6355080" y="960120"/>
          <a:ext xmlns:a="http://schemas.openxmlformats.org/drawingml/2006/main" cx="5577840" cy="2743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f33b7d5bdc14b06"/>
          </a:graphicData>
        </a:graphic>
      </p:graphicFrame>
      <p:graphicFrame>
        <p:nvGraphicFramePr>
          <p:cNvPr id="100028" name="transparency=30"/>
          <p:cNvGraphicFramePr/>
          <p:nvPr/>
        </p:nvGraphicFramePr>
        <p:xfrm>
          <a:off xmlns:a="http://schemas.openxmlformats.org/drawingml/2006/main" x="274320" y="3886200"/>
          <a:ext xmlns:a="http://schemas.openxmlformats.org/drawingml/2006/main" cx="5577840" cy="2743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4bc3dde4f5444a"/>
          </a:graphicData>
        </a:graphic>
      </p:graphicFrame>
      <p:graphicFrame>
        <p:nvGraphicFramePr>
          <p:cNvPr id="100029" name="per-series gradients"/>
          <p:cNvGraphicFramePr/>
          <p:nvPr/>
        </p:nvGraphicFramePr>
        <p:xfrm>
          <a:off xmlns:a="http://schemas.openxmlformats.org/drawingml/2006/main" x="6355080" y="3886200"/>
          <a:ext xmlns:a="http://schemas.openxmlformats.org/drawingml/2006/main" cx="5577840" cy="2743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3010ae86c594e68"/>
          </a:graphicData>
        </a:graphic>
      </p:graphicFrame>
    </p:spTree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30" name="TextBox 1"/>
          <p:cNvSpPr txBox="1"/>
          <p:nvPr/>
        </p:nvSpPr>
        <p:spPr>
          <a:xfrm xmlns:a="http://schemas.openxmlformats.org/drawingml/2006/main">
            <a:off x="457200" y="274320"/>
            <a:ext cx="1124712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2400" b="1"/>
              <a:t>Overlays — trendline (linear/poly/exp/movingAvg), errbars, referenceline</a:t>
            </a:r>
          </a:p>
        </p:txBody>
      </p:sp>
      <p:graphicFrame>
        <p:nvGraphicFramePr>
          <p:cNvPr id="100031" name="trendline=linear"/>
          <p:cNvGraphicFramePr/>
          <p:nvPr/>
        </p:nvGraphicFramePr>
        <p:xfrm>
          <a:off xmlns:a="http://schemas.openxmlformats.org/drawingml/2006/main" x="274320" y="960120"/>
          <a:ext xmlns:a="http://schemas.openxmlformats.org/drawingml/2006/main" cx="5577840" cy="2743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c2eb818594540e7"/>
          </a:graphicData>
        </a:graphic>
      </p:graphicFrame>
      <p:graphicFrame>
        <p:nvGraphicFramePr>
          <p:cNvPr id="100032" name="trendline=poly:3"/>
          <p:cNvGraphicFramePr/>
          <p:nvPr/>
        </p:nvGraphicFramePr>
        <p:xfrm>
          <a:off xmlns:a="http://schemas.openxmlformats.org/drawingml/2006/main" x="6355080" y="960120"/>
          <a:ext xmlns:a="http://schemas.openxmlformats.org/drawingml/2006/main" cx="5577840" cy="2743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e6cbee2d0b5449e"/>
          </a:graphicData>
        </a:graphic>
      </p:graphicFrame>
      <p:graphicFrame>
        <p:nvGraphicFramePr>
          <p:cNvPr id="100033" name="trendline=movingAvg:3"/>
          <p:cNvGraphicFramePr/>
          <p:nvPr/>
        </p:nvGraphicFramePr>
        <p:xfrm>
          <a:off xmlns:a="http://schemas.openxmlformats.org/drawingml/2006/main" x="274320" y="3886200"/>
          <a:ext xmlns:a="http://schemas.openxmlformats.org/drawingml/2006/main" cx="5577840" cy="2743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8f271cb807c4af1"/>
          </a:graphicData>
        </a:graphic>
      </p:graphicFrame>
      <p:graphicFrame>
        <p:nvGraphicFramePr>
          <p:cNvPr id="100034" name="errbars=stdDev:1"/>
          <p:cNvGraphicFramePr/>
          <p:nvPr/>
        </p:nvGraphicFramePr>
        <p:xfrm>
          <a:off xmlns:a="http://schemas.openxmlformats.org/drawingml/2006/main" x="6355080" y="3886200"/>
          <a:ext xmlns:a="http://schemas.openxmlformats.org/drawingml/2006/main" cx="5577840" cy="2743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1f00498b9e646d8"/>
          </a:graphicData>
        </a:graphic>
      </p:graphicFrame>
    </p:spTree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35" name="TextBox 1"/>
          <p:cNvSpPr txBox="1"/>
          <p:nvPr/>
        </p:nvSpPr>
        <p:spPr>
          <a:xfrm xmlns:a="http://schemas.openxmlformats.org/drawingml/2006/main">
            <a:off x="457200" y="274320"/>
            <a:ext cx="1124712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2400" b="1"/>
              <a:t>Per-series Set + presets — lineWidth/lineDash/marker/markerSize/color/smooth</a:t>
            </a:r>
          </a:p>
        </p:txBody>
      </p:sp>
      <p:graphicFrame>
        <p:nvGraphicFramePr>
          <p:cNvPr id="100036" name="preset=minimal"/>
          <p:cNvGraphicFramePr/>
          <p:nvPr/>
        </p:nvGraphicFramePr>
        <p:xfrm>
          <a:off xmlns:a="http://schemas.openxmlformats.org/drawingml/2006/main" x="274320" y="960120"/>
          <a:ext xmlns:a="http://schemas.openxmlformats.org/drawingml/2006/main" cx="5577840" cy="2743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8fe6df9b5434b4e"/>
          </a:graphicData>
        </a:graphic>
      </p:graphicFrame>
      <p:graphicFrame>
        <p:nvGraphicFramePr>
          <p:cNvPr id="100037" name="preset=dark"/>
          <p:cNvGraphicFramePr/>
          <p:nvPr/>
        </p:nvGraphicFramePr>
        <p:xfrm>
          <a:off xmlns:a="http://schemas.openxmlformats.org/drawingml/2006/main" x="6355080" y="960120"/>
          <a:ext xmlns:a="http://schemas.openxmlformats.org/drawingml/2006/main" cx="5577840" cy="2743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44f8f28b564b25"/>
          </a:graphicData>
        </a:graphic>
      </p:graphicFrame>
      <p:graphicFrame>
        <p:nvGraphicFramePr>
          <p:cNvPr id="100038" name="preset=corporate"/>
          <p:cNvGraphicFramePr/>
          <p:nvPr/>
        </p:nvGraphicFramePr>
        <p:xfrm>
          <a:off xmlns:a="http://schemas.openxmlformats.org/drawingml/2006/main" x="274320" y="3886200"/>
          <a:ext xmlns:a="http://schemas.openxmlformats.org/drawingml/2006/main" cx="5577840" cy="2743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ced0b90c9324236"/>
          </a:graphicData>
        </a:graphic>
      </p:graphicFrame>
      <p:graphicFrame>
        <p:nvGraphicFramePr>
          <p:cNvPr id="100039" name="chart-series Set per series"/>
          <p:cNvGraphicFramePr/>
          <p:nvPr/>
        </p:nvGraphicFramePr>
        <p:xfrm>
          <a:off xmlns:a="http://schemas.openxmlformats.org/drawingml/2006/main" x="6355080" y="3886200"/>
          <a:ext xmlns:a="http://schemas.openxmlformats.org/drawingml/2006/main" cx="5577840" cy="2743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9a43065e7f40dd"/>
          </a:graphicData>
        </a:graphic>
      </p:graphicFrame>
    </p:spTree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40" name="TextBox 1"/>
          <p:cNvSpPr txBox="1"/>
          <p:nvPr/>
        </p:nvSpPr>
        <p:spPr>
          <a:xfrm xmlns:a="http://schemas.openxmlformats.org/drawingml/2006/main">
            <a:off x="457200" y="274320"/>
            <a:ext cx="1124712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2400" b="1"/>
              <a:t>series{N}= — named series shorthand (name:v1,v2,…)</a:t>
            </a:r>
          </a:p>
        </p:txBody>
      </p:sp>
      <p:graphicFrame>
        <p:nvGraphicFramePr>
          <p:cNvPr id="100041" name="series1= + series2="/>
          <p:cNvGraphicFramePr/>
          <p:nvPr/>
        </p:nvGraphicFramePr>
        <p:xfrm>
          <a:off xmlns:a="http://schemas.openxmlformats.org/drawingml/2006/main" x="274320" y="960120"/>
          <a:ext xmlns:a="http://schemas.openxmlformats.org/drawingml/2006/main" cx="5577840" cy="2743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6f7dc9f04d34e98"/>
          </a:graphicData>
        </a:graphic>
      </p:graphicFrame>
      <p:graphicFrame>
        <p:nvGraphicFramePr>
          <p:cNvPr id="100042" name="three named series"/>
          <p:cNvGraphicFramePr/>
          <p:nvPr/>
        </p:nvGraphicFramePr>
        <p:xfrm>
          <a:off xmlns:a="http://schemas.openxmlformats.org/drawingml/2006/main" x="6355080" y="960120"/>
          <a:ext xmlns:a="http://schemas.openxmlformats.org/drawingml/2006/main" cx="5577840" cy="2743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376d11d9d994e74"/>
          </a:graphicData>
        </a:graphic>
      </p:graphicFrame>
      <p:graphicFrame>
        <p:nvGraphicFramePr>
          <p:cNvPr id="100043" name="series1 with colors"/>
          <p:cNvGraphicFramePr/>
          <p:nvPr/>
        </p:nvGraphicFramePr>
        <p:xfrm>
          <a:off xmlns:a="http://schemas.openxmlformats.org/drawingml/2006/main" x="274320" y="3886200"/>
          <a:ext xmlns:a="http://schemas.openxmlformats.org/drawingml/2006/main" cx="5577840" cy="2743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f52b29344c04363"/>
          </a:graphicData>
        </a:graphic>
      </p:graphicFrame>
      <p:graphicFrame>
        <p:nvGraphicFramePr>
          <p:cNvPr id="100044" name="series1.* per-series naming + colors="/>
          <p:cNvGraphicFramePr/>
          <p:nvPr/>
        </p:nvGraphicFramePr>
        <p:xfrm>
          <a:off xmlns:a="http://schemas.openxmlformats.org/drawingml/2006/main" x="6355080" y="3886200"/>
          <a:ext xmlns:a="http://schemas.openxmlformats.org/drawingml/2006/main" cx="5577840" cy="2743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98cb00d01464188"/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OfficeCLI/1.0.102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2026-06-04T10:36:03Z</dcterms:created>
  <cp:lastModifiedBy>OfficeCLI</cp:lastModifiedBy>
  <dcterms:modified xsi:type="dcterms:W3CDTF">2026-06-04T10:36:03Z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1.0.102</vt:lpwstr>
  </op:property>
  <op:property fmtid="{D5CDD505-2E9C-101B-9397-08002B2CF9AE}" pid="3" name="OfficeCLI.LastModified">
    <vt:lpwstr xmlns:vt="http://schemas.openxmlformats.org/officeDocument/2006/docPropsVTypes">2026-06-04T10:36:11Z</vt:lpwstr>
  </op:property>
</op:Properties>
</file>